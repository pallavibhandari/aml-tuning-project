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Nunito SemiBold"/>
      <p:regular r:id="rId31"/>
      <p:bold r:id="rId32"/>
      <p:italic r:id="rId33"/>
      <p:boldItalic r:id="rId34"/>
    </p:embeddedFont>
    <p:embeddedFont>
      <p:font typeface="Nunito"/>
      <p:regular r:id="rId35"/>
      <p:bold r:id="rId36"/>
      <p:italic r:id="rId37"/>
      <p:boldItalic r:id="rId38"/>
    </p:embeddedFont>
    <p:embeddedFont>
      <p:font typeface="Nunito ExtraBold"/>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gTravxwzbl0EgVQjsrbaazzNAK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BB1473-7AF3-471A-9F87-18D46A916E52}">
  <a:tblStyle styleId="{71BB1473-7AF3-471A-9F87-18D46A916E52}"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B1372D40-0A2F-45FB-986C-F307831089E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ExtraBold-boldItalic.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unitoSemiBold-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NunitoSemiBold-italic.fntdata"/><Relationship Id="rId10" Type="http://schemas.openxmlformats.org/officeDocument/2006/relationships/slide" Target="slides/slide3.xml"/><Relationship Id="rId32" Type="http://schemas.openxmlformats.org/officeDocument/2006/relationships/font" Target="fonts/NunitoSemiBold-bold.fntdata"/><Relationship Id="rId13" Type="http://schemas.openxmlformats.org/officeDocument/2006/relationships/slide" Target="slides/slide6.xml"/><Relationship Id="rId35" Type="http://schemas.openxmlformats.org/officeDocument/2006/relationships/font" Target="fonts/Nunito-regular.fntdata"/><Relationship Id="rId12" Type="http://schemas.openxmlformats.org/officeDocument/2006/relationships/slide" Target="slides/slide5.xml"/><Relationship Id="rId34" Type="http://schemas.openxmlformats.org/officeDocument/2006/relationships/font" Target="fonts/NunitoSemiBold-boldItalic.fntdata"/><Relationship Id="rId15" Type="http://schemas.openxmlformats.org/officeDocument/2006/relationships/slide" Target="slides/slide8.xml"/><Relationship Id="rId37" Type="http://schemas.openxmlformats.org/officeDocument/2006/relationships/font" Target="fonts/Nunito-italic.fntdata"/><Relationship Id="rId14" Type="http://schemas.openxmlformats.org/officeDocument/2006/relationships/slide" Target="slides/slide7.xml"/><Relationship Id="rId36" Type="http://schemas.openxmlformats.org/officeDocument/2006/relationships/font" Target="fonts/Nunito-bold.fntdata"/><Relationship Id="rId17" Type="http://schemas.openxmlformats.org/officeDocument/2006/relationships/slide" Target="slides/slide10.xml"/><Relationship Id="rId39" Type="http://schemas.openxmlformats.org/officeDocument/2006/relationships/font" Target="fonts/NunitoExtraBold-bold.fntdata"/><Relationship Id="rId16" Type="http://schemas.openxmlformats.org/officeDocument/2006/relationships/slide" Target="slides/slide9.xml"/><Relationship Id="rId38" Type="http://schemas.openxmlformats.org/officeDocument/2006/relationships/font" Target="fonts/Nunit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899911d8b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2899911d8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899911d8b1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899911d8b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251ae496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251ae496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0251ae496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0251ae496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0251ae496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0251ae49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0251ae496f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0251ae496f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0251ae496f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0251ae496f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251ae49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0251ae49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899911d8b1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899911d8b1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0251ae496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0251ae496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255" name="Google Shape;255;p13: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5"/>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p15"/>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1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9" name="Google Shape;19;p16"/>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0" name="Google Shape;20;p1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2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20"/>
          <p:cNvGraphicFramePr/>
          <p:nvPr/>
        </p:nvGraphicFramePr>
        <p:xfrm>
          <a:off x="201942" y="833662"/>
          <a:ext cx="3000000" cy="3000000"/>
        </p:xfrm>
        <a:graphic>
          <a:graphicData uri="http://schemas.openxmlformats.org/drawingml/2006/table">
            <a:tbl>
              <a:tblPr bandRow="1" firstRow="1">
                <a:noFill/>
                <a:tableStyleId>{71BB1473-7AF3-471A-9F87-18D46A916E52}</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2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2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2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2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2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2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26"/>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26"/>
          <p:cNvPicPr preferRelativeResize="0"/>
          <p:nvPr/>
        </p:nvPicPr>
        <p:blipFill rotWithShape="1">
          <a:blip r:embed="rId2">
            <a:alphaModFix/>
          </a:blip>
          <a:srcRect b="19149" l="42816" r="37294" t="18358"/>
          <a:stretch/>
        </p:blipFill>
        <p:spPr>
          <a:xfrm>
            <a:off x="6052536" y="514443"/>
            <a:ext cx="2095112" cy="3703320"/>
          </a:xfrm>
          <a:prstGeom prst="rect">
            <a:avLst/>
          </a:prstGeom>
          <a:noFill/>
          <a:ln>
            <a:noFill/>
          </a:ln>
        </p:spPr>
      </p:pic>
      <p:sp>
        <p:nvSpPr>
          <p:cNvPr id="50" name="Google Shape;50;p26"/>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26"/>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26"/>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62" name="Shape 62"/>
        <p:cNvGrpSpPr/>
        <p:nvPr/>
      </p:nvGrpSpPr>
      <p:grpSpPr>
        <a:xfrm>
          <a:off x="0" y="0"/>
          <a:ext cx="0" cy="0"/>
          <a:chOff x="0" y="0"/>
          <a:chExt cx="0" cy="0"/>
        </a:xfrm>
      </p:grpSpPr>
      <p:sp>
        <p:nvSpPr>
          <p:cNvPr id="63" name="Google Shape;63;p18"/>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64" name="Google Shape;64;p18"/>
          <p:cNvPicPr preferRelativeResize="0"/>
          <p:nvPr/>
        </p:nvPicPr>
        <p:blipFill rotWithShape="1">
          <a:blip r:embed="rId2">
            <a:alphaModFix/>
          </a:blip>
          <a:srcRect b="19149" l="42816" r="37294" t="18358"/>
          <a:stretch/>
        </p:blipFill>
        <p:spPr>
          <a:xfrm>
            <a:off x="6052536" y="514443"/>
            <a:ext cx="2095112" cy="3703320"/>
          </a:xfrm>
          <a:prstGeom prst="rect">
            <a:avLst/>
          </a:prstGeom>
          <a:noFill/>
          <a:ln>
            <a:noFill/>
          </a:ln>
        </p:spPr>
      </p:pic>
      <p:sp>
        <p:nvSpPr>
          <p:cNvPr id="65" name="Google Shape;65;p18"/>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66" name="Google Shape;66;p18"/>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67" name="Google Shape;67;p18"/>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27"/>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70" name="Google Shape;70;p27"/>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73" name="Google Shape;73;p2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 name="Shape 74"/>
        <p:cNvGrpSpPr/>
        <p:nvPr/>
      </p:nvGrpSpPr>
      <p:grpSpPr>
        <a:xfrm>
          <a:off x="0" y="0"/>
          <a:ext cx="0" cy="0"/>
          <a:chOff x="0" y="0"/>
          <a:chExt cx="0" cy="0"/>
        </a:xfrm>
      </p:grpSpPr>
      <p:sp>
        <p:nvSpPr>
          <p:cNvPr id="75" name="Google Shape;75;p2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p29"/>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77" name="Google Shape;77;p2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78" name="Shape 78"/>
        <p:cNvGrpSpPr/>
        <p:nvPr/>
      </p:nvGrpSpPr>
      <p:grpSpPr>
        <a:xfrm>
          <a:off x="0" y="0"/>
          <a:ext cx="0" cy="0"/>
          <a:chOff x="0" y="0"/>
          <a:chExt cx="0" cy="0"/>
        </a:xfrm>
      </p:grpSpPr>
      <p:sp>
        <p:nvSpPr>
          <p:cNvPr id="79" name="Google Shape;79;p3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80" name="Google Shape;80;p30"/>
          <p:cNvGraphicFramePr/>
          <p:nvPr/>
        </p:nvGraphicFramePr>
        <p:xfrm>
          <a:off x="201942" y="833662"/>
          <a:ext cx="3000000" cy="3000000"/>
        </p:xfrm>
        <a:graphic>
          <a:graphicData uri="http://schemas.openxmlformats.org/drawingml/2006/table">
            <a:tbl>
              <a:tblPr bandRow="1" firstRow="1">
                <a:noFill/>
                <a:tableStyleId>{71BB1473-7AF3-471A-9F87-18D46A916E52}</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81" name="Google Shape;81;p3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sp>
        <p:nvSpPr>
          <p:cNvPr id="83" name="Google Shape;83;p3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4" name="Google Shape;84;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5" name="Google Shape;85;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6" name="Google Shape;86;p3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3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9" name="Google Shape;89;p3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 name="Shape 90"/>
        <p:cNvGrpSpPr/>
        <p:nvPr/>
      </p:nvGrpSpPr>
      <p:grpSpPr>
        <a:xfrm>
          <a:off x="0" y="0"/>
          <a:ext cx="0" cy="0"/>
          <a:chOff x="0" y="0"/>
          <a:chExt cx="0" cy="0"/>
        </a:xfrm>
      </p:grpSpPr>
      <p:sp>
        <p:nvSpPr>
          <p:cNvPr id="91" name="Google Shape;91;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2" name="Google Shape;92;p3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6" name="Google Shape;96;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7" name="Google Shape;97;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98" name="Google Shape;98;p3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3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4"/>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4"/>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4"/>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4"/>
          <p:cNvGrpSpPr/>
          <p:nvPr/>
        </p:nvGrpSpPr>
        <p:grpSpPr>
          <a:xfrm>
            <a:off x="6593" y="10"/>
            <a:ext cx="175500" cy="709221"/>
            <a:chOff x="6593" y="10"/>
            <a:chExt cx="175500" cy="709221"/>
          </a:xfrm>
        </p:grpSpPr>
        <p:sp>
          <p:nvSpPr>
            <p:cNvPr id="12" name="Google Shape;12;p14"/>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4"/>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55" name="Google Shape;55;p17"/>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56" name="Google Shape;56;p17"/>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57" name="Google Shape;57;p1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58" name="Google Shape;58;p17"/>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59" name="Google Shape;59;p17"/>
          <p:cNvGrpSpPr/>
          <p:nvPr/>
        </p:nvGrpSpPr>
        <p:grpSpPr>
          <a:xfrm>
            <a:off x="6593" y="10"/>
            <a:ext cx="175500" cy="709221"/>
            <a:chOff x="6593" y="10"/>
            <a:chExt cx="175500" cy="709221"/>
          </a:xfrm>
        </p:grpSpPr>
        <p:sp>
          <p:nvSpPr>
            <p:cNvPr id="60" name="Google Shape;60;p17"/>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7"/>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p14:dur="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158150" y="1412050"/>
            <a:ext cx="7438500" cy="581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 sz="3600">
                <a:solidFill>
                  <a:srgbClr val="1974D2"/>
                </a:solidFill>
              </a:rPr>
              <a:t>Credit Card Users Churn Prediction Project</a:t>
            </a:r>
            <a:endParaRPr sz="3600">
              <a:solidFill>
                <a:srgbClr val="1974D2"/>
              </a:solidFill>
            </a:endParaRPr>
          </a:p>
        </p:txBody>
      </p:sp>
      <p:sp>
        <p:nvSpPr>
          <p:cNvPr id="106" name="Google Shape;106;p1"/>
          <p:cNvSpPr txBox="1"/>
          <p:nvPr>
            <p:ph type="ctrTitle"/>
          </p:nvPr>
        </p:nvSpPr>
        <p:spPr>
          <a:xfrm>
            <a:off x="1153000" y="2038575"/>
            <a:ext cx="7209000" cy="498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b="0" lang="en" sz="3000">
                <a:solidFill>
                  <a:srgbClr val="1974D2"/>
                </a:solidFill>
              </a:rPr>
              <a:t>Advanced Machine Learning</a:t>
            </a:r>
            <a:endParaRPr b="0" sz="3000">
              <a:solidFill>
                <a:srgbClr val="1974D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2" name="Google Shape;112;p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Model performance summary for hyperparameter tuning.</a:t>
            </a:r>
            <a:endParaRPr sz="1400">
              <a:solidFill>
                <a:srgbClr val="000000"/>
              </a:solidFill>
            </a:endParaRPr>
          </a:p>
          <a:p>
            <a:pPr indent="-317500" lvl="0" marL="457200" rtl="0" algn="l">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18" name="Google Shape;118;p3"/>
          <p:cNvSpPr txBox="1"/>
          <p:nvPr>
            <p:ph idx="1" type="body"/>
          </p:nvPr>
        </p:nvSpPr>
        <p:spPr>
          <a:xfrm>
            <a:off x="202550" y="861975"/>
            <a:ext cx="8629800" cy="3934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Total Transaction Count, Total Revolving Balance, Total Transaction Amount, and Total Relationship Count are the key characteristics of the customers that have a huge impact on attrition</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Having low transactions is a key factor in the attrition of a customer. The bank should provide fee waivers, discounts, cashback offers, increasing credit limit etc. to engage the customers and motivate them to use their cards.</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Customers who are invested in 1 to 2 products account for almost 55% of the customers. Bank should get feedback from the customers </a:t>
            </a:r>
            <a:r>
              <a:rPr lang="en" sz="1400">
                <a:solidFill>
                  <a:srgbClr val="000000"/>
                </a:solidFill>
              </a:rPr>
              <a:t>regularly</a:t>
            </a:r>
            <a:r>
              <a:rPr lang="en" sz="1400">
                <a:solidFill>
                  <a:srgbClr val="000000"/>
                </a:solidFill>
              </a:rPr>
              <a:t> to </a:t>
            </a:r>
            <a:r>
              <a:rPr lang="en" sz="1400">
                <a:solidFill>
                  <a:srgbClr val="000000"/>
                </a:solidFill>
              </a:rPr>
              <a:t>identify</a:t>
            </a:r>
            <a:r>
              <a:rPr lang="en" sz="1400">
                <a:solidFill>
                  <a:srgbClr val="000000"/>
                </a:solidFill>
              </a:rPr>
              <a:t> the root cause of attrition in relation to those products.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Customers who pay their balances back regularly and on time attrite more than others. Bank should get feedback from these customers and provide discounts and other  benefits to these customers to motivate them to continue to stay with the bank.</a:t>
            </a:r>
            <a:endParaRPr sz="1400">
              <a:solidFill>
                <a:srgbClr val="000000"/>
              </a:solidFill>
            </a:endParaRPr>
          </a:p>
          <a:p>
            <a:pPr indent="-317500" lvl="0" marL="457200" rtl="0" algn="l">
              <a:lnSpc>
                <a:spcPct val="115000"/>
              </a:lnSpc>
              <a:spcBef>
                <a:spcPts val="1000"/>
              </a:spcBef>
              <a:spcAft>
                <a:spcPts val="1000"/>
              </a:spcAft>
              <a:buClr>
                <a:srgbClr val="000000"/>
              </a:buClr>
              <a:buSzPts val="1400"/>
              <a:buChar char="●"/>
            </a:pPr>
            <a:r>
              <a:rPr lang="en" sz="1400">
                <a:solidFill>
                  <a:srgbClr val="000000"/>
                </a:solidFill>
              </a:rPr>
              <a:t> Married and Female customers should be targeted by the bank to market their products as these were among the </a:t>
            </a:r>
            <a:r>
              <a:rPr lang="en" sz="1400">
                <a:solidFill>
                  <a:srgbClr val="000000"/>
                </a:solidFill>
              </a:rPr>
              <a:t>highest number of credit card users.</a:t>
            </a:r>
            <a:endParaRPr sz="14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Business Problem Overview </a:t>
            </a:r>
            <a:endParaRPr>
              <a:solidFill>
                <a:srgbClr val="1974D2"/>
              </a:solidFill>
            </a:endParaRPr>
          </a:p>
        </p:txBody>
      </p:sp>
      <p:sp>
        <p:nvSpPr>
          <p:cNvPr id="124" name="Google Shape;124;p4"/>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Char char="●"/>
            </a:pPr>
            <a:r>
              <a:rPr lang="en" sz="1400">
                <a:solidFill>
                  <a:srgbClr val="000000"/>
                </a:solidFill>
              </a:rPr>
              <a:t>Thera bank has seen a sharp decline in the number of credit card customers. Since credit cards are good source of income for the bank</a:t>
            </a:r>
            <a:r>
              <a:rPr lang="en" sz="1400">
                <a:solidFill>
                  <a:srgbClr val="000000"/>
                </a:solidFill>
              </a:rPr>
              <a:t>s</a:t>
            </a:r>
            <a:r>
              <a:rPr lang="en" sz="1400">
                <a:solidFill>
                  <a:srgbClr val="000000"/>
                </a:solidFill>
              </a:rPr>
              <a:t>, Thera bank wants to analyze and identify the potential customers who are most </a:t>
            </a:r>
            <a:r>
              <a:rPr lang="en" sz="1400">
                <a:solidFill>
                  <a:srgbClr val="000000"/>
                </a:solidFill>
              </a:rPr>
              <a:t>likely to discontinue the usage of their credit card services and their reasons for doing so.</a:t>
            </a:r>
            <a:br>
              <a:rPr lang="en" sz="1400">
                <a:solidFill>
                  <a:srgbClr val="000000"/>
                </a:solidFill>
              </a:rPr>
            </a:b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The goal is to predict which customers are likely to churn in the near future along with the reasons for them renouncing the bank’s services. This will help the bank improve its services based on the identified issues.</a:t>
            </a:r>
            <a:endParaRPr sz="14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899911d8b1_0_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Solution Approach</a:t>
            </a:r>
            <a:endParaRPr>
              <a:solidFill>
                <a:srgbClr val="1974D2"/>
              </a:solidFill>
            </a:endParaRPr>
          </a:p>
        </p:txBody>
      </p:sp>
      <p:sp>
        <p:nvSpPr>
          <p:cNvPr id="130" name="Google Shape;130;g2899911d8b1_0_0"/>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The solution that will help bank improve its services so that customers do not renounce their credit cards </a:t>
            </a:r>
            <a:r>
              <a:rPr lang="en" sz="1400">
                <a:solidFill>
                  <a:srgbClr val="000000"/>
                </a:solidFill>
              </a:rPr>
              <a:t>would</a:t>
            </a:r>
            <a:r>
              <a:rPr lang="en" sz="1400">
                <a:solidFill>
                  <a:srgbClr val="000000"/>
                </a:solidFill>
              </a:rPr>
              <a:t> include - </a:t>
            </a:r>
            <a:endParaRPr sz="1400">
              <a:solidFill>
                <a:srgbClr val="000000"/>
              </a:solidFill>
            </a:endParaRPr>
          </a:p>
          <a:p>
            <a:pPr indent="-298450" lvl="1" marL="914400" rtl="0" algn="l">
              <a:spcBef>
                <a:spcPts val="1000"/>
              </a:spcBef>
              <a:spcAft>
                <a:spcPts val="0"/>
              </a:spcAft>
              <a:buClr>
                <a:srgbClr val="000000"/>
              </a:buClr>
              <a:buSzPts val="1100"/>
              <a:buFont typeface="Arial"/>
              <a:buChar char="○"/>
            </a:pPr>
            <a:r>
              <a:rPr lang="en" sz="1400">
                <a:solidFill>
                  <a:srgbClr val="000000"/>
                </a:solidFill>
              </a:rPr>
              <a:t>Exploring and visualizing the bank’s dataset.</a:t>
            </a:r>
            <a:endParaRPr sz="1400">
              <a:solidFill>
                <a:srgbClr val="000000"/>
              </a:solidFill>
            </a:endParaRPr>
          </a:p>
          <a:p>
            <a:pPr indent="-298450" lvl="1" marL="914400" rtl="0" algn="l">
              <a:spcBef>
                <a:spcPts val="0"/>
              </a:spcBef>
              <a:spcAft>
                <a:spcPts val="0"/>
              </a:spcAft>
              <a:buClr>
                <a:srgbClr val="000000"/>
              </a:buClr>
              <a:buSzPts val="1100"/>
              <a:buFont typeface="Arial"/>
              <a:buChar char="○"/>
            </a:pPr>
            <a:r>
              <a:rPr lang="en" sz="1400">
                <a:solidFill>
                  <a:srgbClr val="000000"/>
                </a:solidFill>
              </a:rPr>
              <a:t>Building a classification model to predict if the customer is going to churn or not</a:t>
            </a:r>
            <a:endParaRPr sz="1400">
              <a:solidFill>
                <a:srgbClr val="000000"/>
              </a:solidFill>
            </a:endParaRPr>
          </a:p>
          <a:p>
            <a:pPr indent="-298450" lvl="1" marL="914400" rtl="0" algn="l">
              <a:spcBef>
                <a:spcPts val="0"/>
              </a:spcBef>
              <a:spcAft>
                <a:spcPts val="0"/>
              </a:spcAft>
              <a:buClr>
                <a:srgbClr val="000000"/>
              </a:buClr>
              <a:buSzPts val="1100"/>
              <a:buFont typeface="Arial"/>
              <a:buChar char="○"/>
            </a:pPr>
            <a:r>
              <a:rPr lang="en" sz="1400">
                <a:solidFill>
                  <a:srgbClr val="000000"/>
                </a:solidFill>
              </a:rPr>
              <a:t>Optimizing the model using appropriate techniques</a:t>
            </a:r>
            <a:endParaRPr sz="1400">
              <a:solidFill>
                <a:srgbClr val="000000"/>
              </a:solidFill>
            </a:endParaRPr>
          </a:p>
          <a:p>
            <a:pPr indent="-298450" lvl="1" marL="914400" rtl="0" algn="l">
              <a:spcBef>
                <a:spcPts val="0"/>
              </a:spcBef>
              <a:spcAft>
                <a:spcPts val="0"/>
              </a:spcAft>
              <a:buClr>
                <a:srgbClr val="000000"/>
              </a:buClr>
              <a:buSzPts val="1100"/>
              <a:buFont typeface="Arial"/>
              <a:buChar char="○"/>
            </a:pPr>
            <a:r>
              <a:rPr lang="en" sz="1400">
                <a:solidFill>
                  <a:srgbClr val="000000"/>
                </a:solidFill>
              </a:rPr>
              <a:t>Generating a set of insights and recommendations that will help the bank to figure out the factors driving attritions</a:t>
            </a:r>
            <a:endParaRPr sz="14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EDA Results</a:t>
            </a:r>
            <a:endParaRPr>
              <a:solidFill>
                <a:srgbClr val="1974D2"/>
              </a:solidFill>
            </a:endParaRPr>
          </a:p>
        </p:txBody>
      </p:sp>
      <p:sp>
        <p:nvSpPr>
          <p:cNvPr id="136" name="Google Shape;136;p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There are 10127 rows and 21 columns</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All columns except 6 are numerical columns, Attrition_Flag, Gender, Education_Level, Marital Status, Income_Category, Card_Category have object data type </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Income Category has 10127 values with the majority value of "Less than 40k"</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Card Category has 10127 values with the majority value of "Blue"</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Attrition Flag has 10127 values with the majority value of "Existing Customer"</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Gender has 10127 values with the majority value of "F"</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Education Level has 8608 values with majority of"Graduate". Null values were found  and will be imputed to avoid data leakage</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Marital Status has 9369 values with majority value of  "Married". Null values were found and will be imputed to avoid data leakage</a:t>
            </a:r>
            <a:endParaRPr sz="1400">
              <a:solidFill>
                <a:srgbClr val="2D3B45"/>
              </a:solidFill>
              <a:highlight>
                <a:srgbClr val="FFFFFF"/>
              </a:highlight>
            </a:endParaRPr>
          </a:p>
          <a:p>
            <a:pPr indent="0" lvl="0" marL="0" rtl="0" algn="l">
              <a:lnSpc>
                <a:spcPct val="115000"/>
              </a:lnSpc>
              <a:spcBef>
                <a:spcPts val="1000"/>
              </a:spcBef>
              <a:spcAft>
                <a:spcPts val="1000"/>
              </a:spcAft>
              <a:buSzPts val="1500"/>
              <a:buNone/>
            </a:pPr>
            <a:r>
              <a:t/>
            </a:r>
            <a:endParaRPr i="1" sz="12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899911d8b1_0_2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EDA Results - Univariate Analysis </a:t>
            </a:r>
            <a:endParaRPr>
              <a:solidFill>
                <a:srgbClr val="1974D2"/>
              </a:solidFill>
            </a:endParaRPr>
          </a:p>
        </p:txBody>
      </p:sp>
      <p:sp>
        <p:nvSpPr>
          <p:cNvPr id="142" name="Google Shape;142;g2899911d8b1_0_22"/>
          <p:cNvSpPr txBox="1"/>
          <p:nvPr>
            <p:ph idx="1" type="body"/>
          </p:nvPr>
        </p:nvSpPr>
        <p:spPr>
          <a:xfrm>
            <a:off x="4204125" y="968475"/>
            <a:ext cx="4725900" cy="36051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rgbClr val="000000"/>
              </a:buClr>
              <a:buSzPts val="1000"/>
              <a:buChar char="●"/>
            </a:pPr>
            <a:r>
              <a:rPr b="1" lang="en" sz="1000">
                <a:solidFill>
                  <a:srgbClr val="000000"/>
                </a:solidFill>
              </a:rPr>
              <a:t>Customer Age</a:t>
            </a:r>
            <a:r>
              <a:rPr lang="en" sz="1000">
                <a:solidFill>
                  <a:srgbClr val="000000"/>
                </a:solidFill>
              </a:rPr>
              <a:t>: It is </a:t>
            </a:r>
            <a:r>
              <a:rPr lang="en" sz="1000">
                <a:solidFill>
                  <a:srgbClr val="000000"/>
                </a:solidFill>
              </a:rPr>
              <a:t>normally</a:t>
            </a:r>
            <a:r>
              <a:rPr lang="en" sz="1000">
                <a:solidFill>
                  <a:srgbClr val="000000"/>
                </a:solidFill>
              </a:rPr>
              <a:t> distributed with the mean of 46 years</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Dependent Count</a:t>
            </a:r>
            <a:r>
              <a:rPr lang="en" sz="1000">
                <a:solidFill>
                  <a:srgbClr val="000000"/>
                </a:solidFill>
              </a:rPr>
              <a:t>: </a:t>
            </a:r>
            <a:r>
              <a:rPr lang="en" sz="1000">
                <a:solidFill>
                  <a:srgbClr val="000000"/>
                </a:solidFill>
              </a:rPr>
              <a:t>Majority of the customers have 2 to 3 dependents</a:t>
            </a:r>
            <a:endParaRPr sz="1000">
              <a:solidFill>
                <a:srgbClr val="000000"/>
              </a:solidFill>
            </a:endParaRPr>
          </a:p>
          <a:p>
            <a:pPr indent="-292100" lvl="0" marL="457200" rtl="0" algn="l">
              <a:lnSpc>
                <a:spcPct val="115000"/>
              </a:lnSpc>
              <a:spcBef>
                <a:spcPts val="0"/>
              </a:spcBef>
              <a:spcAft>
                <a:spcPts val="0"/>
              </a:spcAft>
              <a:buClr>
                <a:srgbClr val="000000"/>
              </a:buClr>
              <a:buSzPts val="1000"/>
              <a:buChar char="●"/>
            </a:pPr>
            <a:r>
              <a:rPr b="1" lang="en" sz="1000">
                <a:solidFill>
                  <a:srgbClr val="000000"/>
                </a:solidFill>
              </a:rPr>
              <a:t>Months on book</a:t>
            </a:r>
            <a:r>
              <a:rPr lang="en" sz="1000">
                <a:solidFill>
                  <a:srgbClr val="000000"/>
                </a:solidFill>
              </a:rPr>
              <a:t>:  It is normally distributed with a very high frequency of the mode of 36 </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Total Relationship Count</a:t>
            </a:r>
            <a:r>
              <a:rPr lang="en" sz="1000">
                <a:solidFill>
                  <a:srgbClr val="000000"/>
                </a:solidFill>
              </a:rPr>
              <a:t>: Customers who avail 4 or 5 products have the same count</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Months Inactive 12 months</a:t>
            </a:r>
            <a:r>
              <a:rPr lang="en" sz="1000">
                <a:solidFill>
                  <a:srgbClr val="000000"/>
                </a:solidFill>
              </a:rPr>
              <a:t>: Few customers were inactive for more than 3 months</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Contacts Count 12 months</a:t>
            </a:r>
            <a:r>
              <a:rPr lang="en" sz="1000">
                <a:solidFill>
                  <a:srgbClr val="000000"/>
                </a:solidFill>
              </a:rPr>
              <a:t>: Majority of the customers contacted the bank more than 4 times</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Credit Limit</a:t>
            </a:r>
            <a:r>
              <a:rPr lang="en" sz="1000">
                <a:solidFill>
                  <a:srgbClr val="000000"/>
                </a:solidFill>
              </a:rPr>
              <a:t>: Quite a few customers with a maximum limit of $35000</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T</a:t>
            </a:r>
            <a:r>
              <a:rPr b="1" lang="en" sz="1000">
                <a:solidFill>
                  <a:srgbClr val="000000"/>
                </a:solidFill>
              </a:rPr>
              <a:t>otal Revolving Balance</a:t>
            </a:r>
            <a:r>
              <a:rPr lang="en" sz="1000">
                <a:solidFill>
                  <a:srgbClr val="000000"/>
                </a:solidFill>
              </a:rPr>
              <a:t>: Majority of the customers paid their balance every month</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Avg Open to buy</a:t>
            </a:r>
            <a:r>
              <a:rPr lang="en" sz="1000">
                <a:solidFill>
                  <a:srgbClr val="000000"/>
                </a:solidFill>
              </a:rPr>
              <a:t>: Most customers used a large amount of their limit </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Total Amount Change Q4 Q1</a:t>
            </a:r>
            <a:r>
              <a:rPr lang="en" sz="1000">
                <a:solidFill>
                  <a:srgbClr val="000000"/>
                </a:solidFill>
              </a:rPr>
              <a:t>: Data is </a:t>
            </a:r>
            <a:r>
              <a:rPr lang="en" sz="1000">
                <a:solidFill>
                  <a:srgbClr val="000000"/>
                </a:solidFill>
              </a:rPr>
              <a:t>slightly</a:t>
            </a:r>
            <a:r>
              <a:rPr lang="en" sz="1000">
                <a:solidFill>
                  <a:srgbClr val="000000"/>
                </a:solidFill>
              </a:rPr>
              <a:t> right skewed</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Total Trans Amt</a:t>
            </a:r>
            <a:r>
              <a:rPr lang="en" sz="1000">
                <a:solidFill>
                  <a:srgbClr val="000000"/>
                </a:solidFill>
              </a:rPr>
              <a:t>: Data is right skewed with few customers between $10000 and $15000</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Total Trans Count: </a:t>
            </a:r>
            <a:r>
              <a:rPr lang="en" sz="1000">
                <a:solidFill>
                  <a:srgbClr val="000000"/>
                </a:solidFill>
              </a:rPr>
              <a:t>Majority of the transactions are between 40 and 80</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Total Count Change Q4 Q1: </a:t>
            </a:r>
            <a:r>
              <a:rPr lang="en" sz="1000">
                <a:solidFill>
                  <a:srgbClr val="000000"/>
                </a:solidFill>
              </a:rPr>
              <a:t>Data is </a:t>
            </a:r>
            <a:r>
              <a:rPr lang="en" sz="1000">
                <a:solidFill>
                  <a:srgbClr val="000000"/>
                </a:solidFill>
              </a:rPr>
              <a:t>slightly</a:t>
            </a:r>
            <a:r>
              <a:rPr lang="en" sz="1000">
                <a:solidFill>
                  <a:srgbClr val="000000"/>
                </a:solidFill>
              </a:rPr>
              <a:t> right skewed</a:t>
            </a:r>
            <a:endParaRPr sz="1000">
              <a:solidFill>
                <a:srgbClr val="000000"/>
              </a:solidFill>
            </a:endParaRPr>
          </a:p>
          <a:p>
            <a:pPr indent="-292100" lvl="0" marL="457200" rtl="0" algn="l">
              <a:spcBef>
                <a:spcPts val="0"/>
              </a:spcBef>
              <a:spcAft>
                <a:spcPts val="0"/>
              </a:spcAft>
              <a:buClr>
                <a:srgbClr val="000000"/>
              </a:buClr>
              <a:buSzPts val="1000"/>
              <a:buChar char="●"/>
            </a:pPr>
            <a:r>
              <a:rPr b="1" lang="en" sz="1000">
                <a:solidFill>
                  <a:srgbClr val="000000"/>
                </a:solidFill>
              </a:rPr>
              <a:t>Avg Utilization Ratio: </a:t>
            </a:r>
            <a:r>
              <a:rPr lang="en" sz="1000">
                <a:solidFill>
                  <a:srgbClr val="000000"/>
                </a:solidFill>
              </a:rPr>
              <a:t>Most customers </a:t>
            </a:r>
            <a:r>
              <a:rPr lang="en" sz="1000">
                <a:solidFill>
                  <a:srgbClr val="000000"/>
                </a:solidFill>
              </a:rPr>
              <a:t>don't</a:t>
            </a:r>
            <a:r>
              <a:rPr lang="en" sz="1000">
                <a:solidFill>
                  <a:srgbClr val="000000"/>
                </a:solidFill>
              </a:rPr>
              <a:t> use their credit amount</a:t>
            </a:r>
            <a:endParaRPr sz="1000">
              <a:solidFill>
                <a:srgbClr val="000000"/>
              </a:solidFill>
            </a:endParaRPr>
          </a:p>
        </p:txBody>
      </p:sp>
      <p:pic>
        <p:nvPicPr>
          <p:cNvPr id="143" name="Google Shape;143;g2899911d8b1_0_22"/>
          <p:cNvPicPr preferRelativeResize="0"/>
          <p:nvPr/>
        </p:nvPicPr>
        <p:blipFill>
          <a:blip r:embed="rId3">
            <a:alphaModFix/>
          </a:blip>
          <a:stretch>
            <a:fillRect/>
          </a:stretch>
        </p:blipFill>
        <p:spPr>
          <a:xfrm>
            <a:off x="300300" y="968475"/>
            <a:ext cx="3542775" cy="3527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0251ae496f_0_26"/>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74D2"/>
                </a:solidFill>
              </a:rPr>
              <a:t>EDA Results - Multivariate Analysis - </a:t>
            </a:r>
            <a:r>
              <a:rPr lang="en" sz="1800">
                <a:solidFill>
                  <a:srgbClr val="1974D2"/>
                </a:solidFill>
              </a:rPr>
              <a:t>Total Transaction Amount</a:t>
            </a:r>
            <a:endParaRPr sz="1800">
              <a:solidFill>
                <a:srgbClr val="1974D2"/>
              </a:solidFill>
            </a:endParaRPr>
          </a:p>
          <a:p>
            <a:pPr indent="0" lvl="0" marL="0" rtl="0" algn="l">
              <a:spcBef>
                <a:spcPts val="0"/>
              </a:spcBef>
              <a:spcAft>
                <a:spcPts val="0"/>
              </a:spcAft>
              <a:buNone/>
            </a:pPr>
            <a:r>
              <a:t/>
            </a:r>
            <a:endParaRPr/>
          </a:p>
        </p:txBody>
      </p:sp>
      <p:sp>
        <p:nvSpPr>
          <p:cNvPr id="149" name="Google Shape;149;g30251ae496f_0_26"/>
          <p:cNvSpPr txBox="1"/>
          <p:nvPr>
            <p:ph idx="1" type="body"/>
          </p:nvPr>
        </p:nvSpPr>
        <p:spPr>
          <a:xfrm>
            <a:off x="202550" y="861975"/>
            <a:ext cx="8629800" cy="924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Total revolving balance data is right skewed </a:t>
            </a:r>
            <a:endParaRPr/>
          </a:p>
          <a:p>
            <a:pPr indent="-323850" lvl="0" marL="457200" rtl="0" algn="l">
              <a:spcBef>
                <a:spcPts val="0"/>
              </a:spcBef>
              <a:spcAft>
                <a:spcPts val="0"/>
              </a:spcAft>
              <a:buSzPts val="1500"/>
              <a:buChar char="●"/>
            </a:pPr>
            <a:r>
              <a:rPr lang="en"/>
              <a:t>Majority of the transaction amounts are around the 2 peaks seen at approx. $2000 and $4500</a:t>
            </a:r>
            <a:endParaRPr/>
          </a:p>
        </p:txBody>
      </p:sp>
      <p:pic>
        <p:nvPicPr>
          <p:cNvPr id="150" name="Google Shape;150;g30251ae496f_0_26"/>
          <p:cNvPicPr preferRelativeResize="0"/>
          <p:nvPr/>
        </p:nvPicPr>
        <p:blipFill>
          <a:blip r:embed="rId3">
            <a:alphaModFix/>
          </a:blip>
          <a:stretch>
            <a:fillRect/>
          </a:stretch>
        </p:blipFill>
        <p:spPr>
          <a:xfrm>
            <a:off x="1606499" y="1710075"/>
            <a:ext cx="5712699" cy="3421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0251ae496f_0_39"/>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74D2"/>
                </a:solidFill>
              </a:rPr>
              <a:t>EDA Results - Multivariate Analysis - </a:t>
            </a:r>
            <a:r>
              <a:rPr lang="en" sz="1800">
                <a:solidFill>
                  <a:srgbClr val="1974D2"/>
                </a:solidFill>
              </a:rPr>
              <a:t>Total Transaction Count</a:t>
            </a:r>
            <a:endParaRPr sz="1800">
              <a:solidFill>
                <a:srgbClr val="1974D2"/>
              </a:solidFill>
            </a:endParaRPr>
          </a:p>
          <a:p>
            <a:pPr indent="0" lvl="0" marL="0" rtl="0" algn="l">
              <a:spcBef>
                <a:spcPts val="0"/>
              </a:spcBef>
              <a:spcAft>
                <a:spcPts val="0"/>
              </a:spcAft>
              <a:buNone/>
            </a:pPr>
            <a:r>
              <a:t/>
            </a:r>
            <a:endParaRPr/>
          </a:p>
        </p:txBody>
      </p:sp>
      <p:sp>
        <p:nvSpPr>
          <p:cNvPr id="156" name="Google Shape;156;g30251ae496f_0_39"/>
          <p:cNvSpPr txBox="1"/>
          <p:nvPr>
            <p:ph idx="1" type="body"/>
          </p:nvPr>
        </p:nvSpPr>
        <p:spPr>
          <a:xfrm>
            <a:off x="202550" y="861975"/>
            <a:ext cx="8629800" cy="924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Total revolving balance data is right skewed </a:t>
            </a:r>
            <a:endParaRPr/>
          </a:p>
          <a:p>
            <a:pPr indent="-323850" lvl="0" marL="457200" rtl="0" algn="l">
              <a:spcBef>
                <a:spcPts val="0"/>
              </a:spcBef>
              <a:spcAft>
                <a:spcPts val="0"/>
              </a:spcAft>
              <a:buClr>
                <a:schemeClr val="dk1"/>
              </a:buClr>
              <a:buSzPts val="1500"/>
              <a:buChar char="●"/>
            </a:pPr>
            <a:r>
              <a:rPr lang="en">
                <a:solidFill>
                  <a:schemeClr val="dk1"/>
                </a:solidFill>
              </a:rPr>
              <a:t>The data distribution </a:t>
            </a:r>
            <a:r>
              <a:rPr lang="en">
                <a:solidFill>
                  <a:schemeClr val="dk1"/>
                </a:solidFill>
              </a:rPr>
              <a:t>shows 2 peaks at 40 and 80 transaction counts</a:t>
            </a:r>
            <a:endParaRPr/>
          </a:p>
        </p:txBody>
      </p:sp>
      <p:pic>
        <p:nvPicPr>
          <p:cNvPr id="157" name="Google Shape;157;g30251ae496f_0_39"/>
          <p:cNvPicPr preferRelativeResize="0"/>
          <p:nvPr/>
        </p:nvPicPr>
        <p:blipFill>
          <a:blip r:embed="rId3">
            <a:alphaModFix/>
          </a:blip>
          <a:stretch>
            <a:fillRect/>
          </a:stretch>
        </p:blipFill>
        <p:spPr>
          <a:xfrm>
            <a:off x="1769662" y="1844075"/>
            <a:ext cx="5604664" cy="335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0251ae496f_0_6"/>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200"/>
              <a:buFont typeface="Arial"/>
              <a:buNone/>
            </a:pPr>
            <a:r>
              <a:rPr lang="en">
                <a:solidFill>
                  <a:srgbClr val="1974D2"/>
                </a:solidFill>
              </a:rPr>
              <a:t>EDA Results - Univariate Analysis - </a:t>
            </a:r>
            <a:r>
              <a:rPr lang="en" sz="2000">
                <a:solidFill>
                  <a:srgbClr val="1974D2"/>
                </a:solidFill>
              </a:rPr>
              <a:t>Total Revolving Balance</a:t>
            </a:r>
            <a:endParaRPr sz="2000">
              <a:solidFill>
                <a:srgbClr val="1974D2"/>
              </a:solidFill>
            </a:endParaRPr>
          </a:p>
          <a:p>
            <a:pPr indent="0" lvl="0" marL="0" rtl="0" algn="l">
              <a:spcBef>
                <a:spcPts val="0"/>
              </a:spcBef>
              <a:spcAft>
                <a:spcPts val="0"/>
              </a:spcAft>
              <a:buNone/>
            </a:pPr>
            <a:r>
              <a:t/>
            </a:r>
            <a:endParaRPr/>
          </a:p>
        </p:txBody>
      </p:sp>
      <p:sp>
        <p:nvSpPr>
          <p:cNvPr id="163" name="Google Shape;163;g30251ae496f_0_6"/>
          <p:cNvSpPr txBox="1"/>
          <p:nvPr>
            <p:ph idx="1" type="body"/>
          </p:nvPr>
        </p:nvSpPr>
        <p:spPr>
          <a:xfrm>
            <a:off x="202550" y="861975"/>
            <a:ext cx="8629800" cy="924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Total revolving balance data is </a:t>
            </a:r>
            <a:r>
              <a:rPr lang="en"/>
              <a:t>slightly</a:t>
            </a:r>
            <a:r>
              <a:rPr lang="en"/>
              <a:t> left skewed</a:t>
            </a:r>
            <a:endParaRPr/>
          </a:p>
          <a:p>
            <a:pPr indent="-323850" lvl="0" marL="457200" rtl="0" algn="l">
              <a:spcBef>
                <a:spcPts val="0"/>
              </a:spcBef>
              <a:spcAft>
                <a:spcPts val="0"/>
              </a:spcAft>
              <a:buSzPts val="1500"/>
              <a:buChar char="●"/>
            </a:pPr>
            <a:r>
              <a:rPr lang="en"/>
              <a:t>A large number of customers have balance near zero, meaning they pay off their balance every month</a:t>
            </a:r>
            <a:endParaRPr/>
          </a:p>
        </p:txBody>
      </p:sp>
      <p:pic>
        <p:nvPicPr>
          <p:cNvPr id="164" name="Google Shape;164;g30251ae496f_0_6"/>
          <p:cNvPicPr preferRelativeResize="0"/>
          <p:nvPr/>
        </p:nvPicPr>
        <p:blipFill>
          <a:blip r:embed="rId3">
            <a:alphaModFix/>
          </a:blip>
          <a:stretch>
            <a:fillRect/>
          </a:stretch>
        </p:blipFill>
        <p:spPr>
          <a:xfrm>
            <a:off x="1658663" y="1786275"/>
            <a:ext cx="5608371" cy="33296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0251ae496f_0_1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EDA Results - Categorical Data</a:t>
            </a:r>
            <a:endParaRPr>
              <a:solidFill>
                <a:srgbClr val="1974D2"/>
              </a:solidFill>
            </a:endParaRPr>
          </a:p>
        </p:txBody>
      </p:sp>
      <p:sp>
        <p:nvSpPr>
          <p:cNvPr id="170" name="Google Shape;170;g30251ae496f_0_16"/>
          <p:cNvSpPr txBox="1"/>
          <p:nvPr>
            <p:ph idx="1" type="body"/>
          </p:nvPr>
        </p:nvSpPr>
        <p:spPr>
          <a:xfrm>
            <a:off x="370800" y="861975"/>
            <a:ext cx="8597700" cy="887700"/>
          </a:xfrm>
          <a:prstGeom prst="rect">
            <a:avLst/>
          </a:prstGeom>
          <a:noFill/>
          <a:ln>
            <a:noFill/>
          </a:ln>
        </p:spPr>
        <p:txBody>
          <a:bodyPr anchorCtr="0" anchor="t" bIns="91425" lIns="91425" spcFirstLastPara="1" rIns="91425" wrap="square" tIns="91425">
            <a:noAutofit/>
          </a:bodyPr>
          <a:lstStyle/>
          <a:p>
            <a:pPr indent="-298450" lvl="0" marL="457200" rtl="0" algn="l">
              <a:spcBef>
                <a:spcPts val="1000"/>
              </a:spcBef>
              <a:spcAft>
                <a:spcPts val="0"/>
              </a:spcAft>
              <a:buClr>
                <a:srgbClr val="000000"/>
              </a:buClr>
              <a:buSzPts val="1100"/>
              <a:buFont typeface="Arial"/>
              <a:buChar char="●"/>
            </a:pPr>
            <a:r>
              <a:rPr lang="en" sz="1100">
                <a:solidFill>
                  <a:srgbClr val="000000"/>
                </a:solidFill>
                <a:latin typeface="Arial"/>
                <a:ea typeface="Arial"/>
                <a:cs typeface="Arial"/>
                <a:sym typeface="Arial"/>
              </a:rPr>
              <a:t>There are </a:t>
            </a:r>
            <a:r>
              <a:rPr lang="en" sz="1100">
                <a:solidFill>
                  <a:srgbClr val="000000"/>
                </a:solidFill>
                <a:latin typeface="Arial"/>
                <a:ea typeface="Arial"/>
                <a:cs typeface="Arial"/>
                <a:sym typeface="Arial"/>
              </a:rPr>
              <a:t>slightly</a:t>
            </a:r>
            <a:r>
              <a:rPr lang="en" sz="1100">
                <a:solidFill>
                  <a:srgbClr val="000000"/>
                </a:solidFill>
                <a:latin typeface="Arial"/>
                <a:ea typeface="Arial"/>
                <a:cs typeface="Arial"/>
                <a:sym typeface="Arial"/>
              </a:rPr>
              <a:t> more female customers than male customers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Around 30.9% </a:t>
            </a:r>
            <a:r>
              <a:rPr lang="en" sz="1100">
                <a:solidFill>
                  <a:srgbClr val="000000"/>
                </a:solidFill>
                <a:latin typeface="Arial"/>
                <a:ea typeface="Arial"/>
                <a:cs typeface="Arial"/>
                <a:sym typeface="Arial"/>
              </a:rPr>
              <a:t>of the customers are graduates </a:t>
            </a:r>
            <a:r>
              <a:rPr lang="en" sz="1100">
                <a:solidFill>
                  <a:srgbClr val="000000"/>
                </a:solidFill>
                <a:latin typeface="Arial"/>
                <a:ea typeface="Arial"/>
                <a:cs typeface="Arial"/>
                <a:sym typeface="Arial"/>
              </a:rPr>
              <a:t>followed by high school graduates and uneducated customers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Majority of the customers are married or single, very few are divorced</a:t>
            </a:r>
            <a:endParaRPr sz="1100">
              <a:solidFill>
                <a:srgbClr val="000000"/>
              </a:solidFill>
              <a:latin typeface="Arial"/>
              <a:ea typeface="Arial"/>
              <a:cs typeface="Arial"/>
              <a:sym typeface="Arial"/>
            </a:endParaRPr>
          </a:p>
        </p:txBody>
      </p:sp>
      <p:pic>
        <p:nvPicPr>
          <p:cNvPr id="171" name="Google Shape;171;g30251ae496f_0_16"/>
          <p:cNvPicPr preferRelativeResize="0"/>
          <p:nvPr/>
        </p:nvPicPr>
        <p:blipFill>
          <a:blip r:embed="rId3">
            <a:alphaModFix/>
          </a:blip>
          <a:stretch>
            <a:fillRect/>
          </a:stretch>
        </p:blipFill>
        <p:spPr>
          <a:xfrm>
            <a:off x="559425" y="1848550"/>
            <a:ext cx="2175589" cy="3294950"/>
          </a:xfrm>
          <a:prstGeom prst="rect">
            <a:avLst/>
          </a:prstGeom>
          <a:noFill/>
          <a:ln>
            <a:noFill/>
          </a:ln>
        </p:spPr>
      </p:pic>
      <p:pic>
        <p:nvPicPr>
          <p:cNvPr id="172" name="Google Shape;172;g30251ae496f_0_16"/>
          <p:cNvPicPr preferRelativeResize="0"/>
          <p:nvPr/>
        </p:nvPicPr>
        <p:blipFill>
          <a:blip r:embed="rId4">
            <a:alphaModFix/>
          </a:blip>
          <a:stretch>
            <a:fillRect/>
          </a:stretch>
        </p:blipFill>
        <p:spPr>
          <a:xfrm>
            <a:off x="2735025" y="1862925"/>
            <a:ext cx="3433275" cy="3294950"/>
          </a:xfrm>
          <a:prstGeom prst="rect">
            <a:avLst/>
          </a:prstGeom>
          <a:noFill/>
          <a:ln>
            <a:noFill/>
          </a:ln>
        </p:spPr>
      </p:pic>
      <p:pic>
        <p:nvPicPr>
          <p:cNvPr id="173" name="Google Shape;173;g30251ae496f_0_16"/>
          <p:cNvPicPr preferRelativeResize="0"/>
          <p:nvPr/>
        </p:nvPicPr>
        <p:blipFill>
          <a:blip r:embed="rId5">
            <a:alphaModFix/>
          </a:blip>
          <a:stretch>
            <a:fillRect/>
          </a:stretch>
        </p:blipFill>
        <p:spPr>
          <a:xfrm>
            <a:off x="6168322" y="1848549"/>
            <a:ext cx="2326578" cy="3294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0251ae496f_0_5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EDA Results - Categorical Data</a:t>
            </a:r>
            <a:endParaRPr>
              <a:solidFill>
                <a:srgbClr val="1974D2"/>
              </a:solidFill>
            </a:endParaRPr>
          </a:p>
        </p:txBody>
      </p:sp>
      <p:sp>
        <p:nvSpPr>
          <p:cNvPr id="179" name="Google Shape;179;g30251ae496f_0_52"/>
          <p:cNvSpPr txBox="1"/>
          <p:nvPr>
            <p:ph idx="1" type="body"/>
          </p:nvPr>
        </p:nvSpPr>
        <p:spPr>
          <a:xfrm>
            <a:off x="370800" y="861975"/>
            <a:ext cx="8597700" cy="887700"/>
          </a:xfrm>
          <a:prstGeom prst="rect">
            <a:avLst/>
          </a:prstGeom>
          <a:noFill/>
          <a:ln>
            <a:noFill/>
          </a:ln>
        </p:spPr>
        <p:txBody>
          <a:bodyPr anchorCtr="0" anchor="t" bIns="91425" lIns="91425" spcFirstLastPara="1" rIns="91425" wrap="square" tIns="91425">
            <a:noAutofit/>
          </a:bodyPr>
          <a:lstStyle/>
          <a:p>
            <a:pPr indent="-298450" lvl="0" marL="457200" rtl="0" algn="l">
              <a:spcBef>
                <a:spcPts val="1000"/>
              </a:spcBef>
              <a:spcAft>
                <a:spcPts val="0"/>
              </a:spcAft>
              <a:buClr>
                <a:srgbClr val="000000"/>
              </a:buClr>
              <a:buSzPts val="1100"/>
              <a:buFont typeface="Arial"/>
              <a:buChar char="●"/>
            </a:pPr>
            <a:r>
              <a:rPr lang="en" sz="1100">
                <a:solidFill>
                  <a:srgbClr val="000000"/>
                </a:solidFill>
                <a:latin typeface="Arial"/>
                <a:ea typeface="Arial"/>
                <a:cs typeface="Arial"/>
                <a:sym typeface="Arial"/>
              </a:rPr>
              <a:t>Majority of the customers have Blue card type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Majority of the customers earn less than $40,000</a:t>
            </a:r>
            <a:endParaRPr sz="1100">
              <a:solidFill>
                <a:srgbClr val="000000"/>
              </a:solidFill>
              <a:latin typeface="Arial"/>
              <a:ea typeface="Arial"/>
              <a:cs typeface="Arial"/>
              <a:sym typeface="Arial"/>
            </a:endParaRPr>
          </a:p>
        </p:txBody>
      </p:sp>
      <p:pic>
        <p:nvPicPr>
          <p:cNvPr id="180" name="Google Shape;180;g30251ae496f_0_52"/>
          <p:cNvPicPr preferRelativeResize="0"/>
          <p:nvPr/>
        </p:nvPicPr>
        <p:blipFill>
          <a:blip r:embed="rId3">
            <a:alphaModFix/>
          </a:blip>
          <a:stretch>
            <a:fillRect/>
          </a:stretch>
        </p:blipFill>
        <p:spPr>
          <a:xfrm>
            <a:off x="1192900" y="1846250"/>
            <a:ext cx="3024575" cy="3297249"/>
          </a:xfrm>
          <a:prstGeom prst="rect">
            <a:avLst/>
          </a:prstGeom>
          <a:noFill/>
          <a:ln>
            <a:noFill/>
          </a:ln>
        </p:spPr>
      </p:pic>
      <p:pic>
        <p:nvPicPr>
          <p:cNvPr id="181" name="Google Shape;181;g30251ae496f_0_52"/>
          <p:cNvPicPr preferRelativeResize="0"/>
          <p:nvPr/>
        </p:nvPicPr>
        <p:blipFill>
          <a:blip r:embed="rId4">
            <a:alphaModFix/>
          </a:blip>
          <a:stretch>
            <a:fillRect/>
          </a:stretch>
        </p:blipFill>
        <p:spPr>
          <a:xfrm>
            <a:off x="4217481" y="1818325"/>
            <a:ext cx="3221494" cy="3297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0251ae496f_0_1"/>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200"/>
              <a:buFont typeface="Arial"/>
              <a:buNone/>
            </a:pPr>
            <a:r>
              <a:rPr lang="en">
                <a:solidFill>
                  <a:srgbClr val="1974D2"/>
                </a:solidFill>
              </a:rPr>
              <a:t>EDA Results - Bivariate Analysis - Attrition Indicators</a:t>
            </a:r>
            <a:endParaRPr>
              <a:solidFill>
                <a:srgbClr val="1974D2"/>
              </a:solidFill>
            </a:endParaRPr>
          </a:p>
          <a:p>
            <a:pPr indent="0" lvl="0" marL="0" rtl="0" algn="l">
              <a:spcBef>
                <a:spcPts val="0"/>
              </a:spcBef>
              <a:spcAft>
                <a:spcPts val="0"/>
              </a:spcAft>
              <a:buNone/>
            </a:pPr>
            <a:r>
              <a:t/>
            </a:r>
            <a:endParaRPr/>
          </a:p>
        </p:txBody>
      </p:sp>
      <p:sp>
        <p:nvSpPr>
          <p:cNvPr id="187" name="Google Shape;187;g30251ae496f_0_1"/>
          <p:cNvSpPr txBox="1"/>
          <p:nvPr>
            <p:ph idx="1" type="body"/>
          </p:nvPr>
        </p:nvSpPr>
        <p:spPr>
          <a:xfrm>
            <a:off x="257100" y="808075"/>
            <a:ext cx="8629800" cy="799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Customers who contacted the bank the most and also in the recent past (less than 6 months) also dropped their cards</a:t>
            </a:r>
            <a:endParaRPr/>
          </a:p>
          <a:p>
            <a:pPr indent="-323850" lvl="0" marL="457200" rtl="0" algn="l">
              <a:spcBef>
                <a:spcPts val="0"/>
              </a:spcBef>
              <a:spcAft>
                <a:spcPts val="0"/>
              </a:spcAft>
              <a:buClr>
                <a:schemeClr val="dk1"/>
              </a:buClr>
              <a:buSzPts val="1500"/>
              <a:buChar char="●"/>
            </a:pPr>
            <a:r>
              <a:rPr lang="en">
                <a:solidFill>
                  <a:schemeClr val="dk1"/>
                </a:solidFill>
              </a:rPr>
              <a:t>An increase in inactivity shows increase in </a:t>
            </a:r>
            <a:r>
              <a:rPr lang="en">
                <a:solidFill>
                  <a:schemeClr val="dk1"/>
                </a:solidFill>
              </a:rPr>
              <a:t>attrited customers</a:t>
            </a:r>
            <a:endParaRPr>
              <a:solidFill>
                <a:schemeClr val="dk1"/>
              </a:solidFill>
            </a:endParaRPr>
          </a:p>
        </p:txBody>
      </p:sp>
      <p:pic>
        <p:nvPicPr>
          <p:cNvPr id="188" name="Google Shape;188;g30251ae496f_0_1"/>
          <p:cNvPicPr preferRelativeResize="0"/>
          <p:nvPr/>
        </p:nvPicPr>
        <p:blipFill>
          <a:blip r:embed="rId3">
            <a:alphaModFix/>
          </a:blip>
          <a:stretch>
            <a:fillRect/>
          </a:stretch>
        </p:blipFill>
        <p:spPr>
          <a:xfrm>
            <a:off x="620900" y="2425725"/>
            <a:ext cx="3753550" cy="2717775"/>
          </a:xfrm>
          <a:prstGeom prst="rect">
            <a:avLst/>
          </a:prstGeom>
          <a:noFill/>
          <a:ln>
            <a:noFill/>
          </a:ln>
        </p:spPr>
      </p:pic>
      <p:pic>
        <p:nvPicPr>
          <p:cNvPr id="189" name="Google Shape;189;g30251ae496f_0_1"/>
          <p:cNvPicPr preferRelativeResize="0"/>
          <p:nvPr/>
        </p:nvPicPr>
        <p:blipFill>
          <a:blip r:embed="rId4">
            <a:alphaModFix/>
          </a:blip>
          <a:stretch>
            <a:fillRect/>
          </a:stretch>
        </p:blipFill>
        <p:spPr>
          <a:xfrm>
            <a:off x="4374450" y="2425725"/>
            <a:ext cx="4521443" cy="2717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899911d8b1_0_3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74D2"/>
                </a:solidFill>
              </a:rPr>
              <a:t>EDA Results - Bivariate Analysis - Attrition Indicators</a:t>
            </a:r>
            <a:endParaRPr>
              <a:solidFill>
                <a:srgbClr val="1974D2"/>
              </a:solidFill>
            </a:endParaRPr>
          </a:p>
        </p:txBody>
      </p:sp>
      <p:sp>
        <p:nvSpPr>
          <p:cNvPr id="195" name="Google Shape;195;g2899911d8b1_0_37"/>
          <p:cNvSpPr txBox="1"/>
          <p:nvPr>
            <p:ph idx="1" type="body"/>
          </p:nvPr>
        </p:nvSpPr>
        <p:spPr>
          <a:xfrm>
            <a:off x="332300" y="968475"/>
            <a:ext cx="8597700" cy="781200"/>
          </a:xfrm>
          <a:prstGeom prst="rect">
            <a:avLst/>
          </a:prstGeom>
          <a:noFill/>
          <a:ln>
            <a:noFill/>
          </a:ln>
        </p:spPr>
        <p:txBody>
          <a:bodyPr anchorCtr="0" anchor="t" bIns="91425" lIns="91425" spcFirstLastPara="1" rIns="91425" wrap="square" tIns="91425">
            <a:noAutofit/>
          </a:bodyPr>
          <a:lstStyle/>
          <a:p>
            <a:pPr indent="-311150" lvl="0" marL="457200" rtl="0" algn="l">
              <a:spcBef>
                <a:spcPts val="1000"/>
              </a:spcBef>
              <a:spcAft>
                <a:spcPts val="0"/>
              </a:spcAft>
              <a:buClr>
                <a:srgbClr val="000000"/>
              </a:buClr>
              <a:buSzPts val="1300"/>
              <a:buChar char="●"/>
            </a:pPr>
            <a:r>
              <a:rPr lang="en" sz="1300">
                <a:solidFill>
                  <a:srgbClr val="000000"/>
                </a:solidFill>
              </a:rPr>
              <a:t>Number of products a customer has does not seem to have a huge impact on attrition</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Platinum card holders attrited a little more than other card categories</a:t>
            </a:r>
            <a:endParaRPr sz="1300">
              <a:solidFill>
                <a:srgbClr val="000000"/>
              </a:solidFill>
            </a:endParaRPr>
          </a:p>
        </p:txBody>
      </p:sp>
      <p:pic>
        <p:nvPicPr>
          <p:cNvPr id="196" name="Google Shape;196;g2899911d8b1_0_37"/>
          <p:cNvPicPr preferRelativeResize="0"/>
          <p:nvPr/>
        </p:nvPicPr>
        <p:blipFill>
          <a:blip r:embed="rId3">
            <a:alphaModFix/>
          </a:blip>
          <a:stretch>
            <a:fillRect/>
          </a:stretch>
        </p:blipFill>
        <p:spPr>
          <a:xfrm>
            <a:off x="750725" y="2250725"/>
            <a:ext cx="4309775" cy="2892774"/>
          </a:xfrm>
          <a:prstGeom prst="rect">
            <a:avLst/>
          </a:prstGeom>
          <a:noFill/>
          <a:ln>
            <a:noFill/>
          </a:ln>
        </p:spPr>
      </p:pic>
      <p:pic>
        <p:nvPicPr>
          <p:cNvPr id="197" name="Google Shape;197;g2899911d8b1_0_37"/>
          <p:cNvPicPr preferRelativeResize="0"/>
          <p:nvPr/>
        </p:nvPicPr>
        <p:blipFill>
          <a:blip r:embed="rId4">
            <a:alphaModFix/>
          </a:blip>
          <a:stretch>
            <a:fillRect/>
          </a:stretch>
        </p:blipFill>
        <p:spPr>
          <a:xfrm>
            <a:off x="5060500" y="2231675"/>
            <a:ext cx="3101375" cy="2930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0251ae496f_0_69"/>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EDA Results - Heatmap</a:t>
            </a:r>
            <a:endParaRPr/>
          </a:p>
        </p:txBody>
      </p:sp>
      <p:sp>
        <p:nvSpPr>
          <p:cNvPr id="203" name="Google Shape;203;g30251ae496f_0_69"/>
          <p:cNvSpPr txBox="1"/>
          <p:nvPr>
            <p:ph idx="1" type="body"/>
          </p:nvPr>
        </p:nvSpPr>
        <p:spPr>
          <a:xfrm>
            <a:off x="5292538" y="983150"/>
            <a:ext cx="3568800" cy="3573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There is strong positive correlation between months on the book and Customer Age, Total Revolving Balance and Avg Utilization ratio, Total Transaction Amount and Total Transaction Count</a:t>
            </a:r>
            <a:endParaRPr/>
          </a:p>
          <a:p>
            <a:pPr indent="-323850" lvl="0" marL="457200" rtl="0" algn="l">
              <a:spcBef>
                <a:spcPts val="0"/>
              </a:spcBef>
              <a:spcAft>
                <a:spcPts val="0"/>
              </a:spcAft>
              <a:buSzPts val="1500"/>
              <a:buChar char="●"/>
            </a:pPr>
            <a:r>
              <a:rPr lang="en"/>
              <a:t>There is negative correlation between Credit Limit and Avg Utilization Ratio, Total Transaction Amount and Total Relationship Count and Avg Open to Buy and Avg Utilization Ratio </a:t>
            </a:r>
            <a:endParaRPr/>
          </a:p>
        </p:txBody>
      </p:sp>
      <p:pic>
        <p:nvPicPr>
          <p:cNvPr id="204" name="Google Shape;204;g30251ae496f_0_69"/>
          <p:cNvPicPr preferRelativeResize="0"/>
          <p:nvPr/>
        </p:nvPicPr>
        <p:blipFill>
          <a:blip r:embed="rId3">
            <a:alphaModFix/>
          </a:blip>
          <a:stretch>
            <a:fillRect/>
          </a:stretch>
        </p:blipFill>
        <p:spPr>
          <a:xfrm>
            <a:off x="64363" y="1155525"/>
            <a:ext cx="5258400" cy="30963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210" name="Google Shape;210;p6"/>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chemeClr val="lt1"/>
                </a:highlight>
              </a:rPr>
              <a:t>All columns except Attrition_Flag, Gender, Education_Level, Marital_Status, Income_Category, Card_Category have object data type and will be treated as categorical values and encoded </a:t>
            </a:r>
            <a:endParaRPr sz="1400">
              <a:solidFill>
                <a:srgbClr val="2D3B45"/>
              </a:solidFill>
              <a:highlight>
                <a:schemeClr val="lt1"/>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Income Category has a value of ‘abc’, which will be treated as null and imputed after splitting the data</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1519 Education_Level column values and 749 Marital_Status column values are null, which will be imputed after splitting data</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Outliers are present but will not be treated and will be included in the analysis </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There are no duplicate values</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Data will be split into train set, validation set and test set</a:t>
            </a:r>
            <a:endParaRPr sz="1400">
              <a:solidFill>
                <a:srgbClr val="2D3B45"/>
              </a:solidFill>
              <a:highlight>
                <a:srgbClr val="FFFFFF"/>
              </a:highlight>
            </a:endParaRPr>
          </a:p>
          <a:p>
            <a:pPr indent="-317500" lvl="0" marL="457200" marR="0" rtl="0" algn="l">
              <a:lnSpc>
                <a:spcPct val="115000"/>
              </a:lnSpc>
              <a:spcBef>
                <a:spcPts val="1000"/>
              </a:spcBef>
              <a:spcAft>
                <a:spcPts val="0"/>
              </a:spcAft>
              <a:buClr>
                <a:srgbClr val="2D3B45"/>
              </a:buClr>
              <a:buSzPts val="1400"/>
              <a:buChar char="●"/>
            </a:pPr>
            <a:r>
              <a:rPr lang="en" sz="1400">
                <a:solidFill>
                  <a:srgbClr val="2D3B45"/>
                </a:solidFill>
                <a:highlight>
                  <a:srgbClr val="FFFFFF"/>
                </a:highlight>
              </a:rPr>
              <a:t>The data is highly imbalance, with around 84% of the entries as not attrited and remaining as attrited. Undersampling and oversampling techniques will be used to balance the data</a:t>
            </a:r>
            <a:endParaRPr sz="1400">
              <a:solidFill>
                <a:srgbClr val="000000"/>
              </a:solidFill>
            </a:endParaRPr>
          </a:p>
          <a:p>
            <a:pPr indent="0" lvl="0" marL="0" rtl="0" algn="l">
              <a:lnSpc>
                <a:spcPct val="115000"/>
              </a:lnSpc>
              <a:spcBef>
                <a:spcPts val="1000"/>
              </a:spcBef>
              <a:spcAft>
                <a:spcPts val="1000"/>
              </a:spcAft>
              <a:buSzPts val="1500"/>
              <a:buNone/>
            </a:pPr>
            <a:r>
              <a:t/>
            </a:r>
            <a:endParaRPr sz="1400">
              <a:solidFill>
                <a:srgbClr val="2D3B45"/>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Performance Summary</a:t>
            </a:r>
            <a:endParaRPr>
              <a:solidFill>
                <a:srgbClr val="1974D2"/>
              </a:solidFill>
            </a:endParaRPr>
          </a:p>
        </p:txBody>
      </p:sp>
      <p:graphicFrame>
        <p:nvGraphicFramePr>
          <p:cNvPr id="216" name="Google Shape;216;p7"/>
          <p:cNvGraphicFramePr/>
          <p:nvPr/>
        </p:nvGraphicFramePr>
        <p:xfrm>
          <a:off x="180725" y="2017875"/>
          <a:ext cx="3000000" cy="3000000"/>
        </p:xfrm>
        <a:graphic>
          <a:graphicData uri="http://schemas.openxmlformats.org/drawingml/2006/table">
            <a:tbl>
              <a:tblPr>
                <a:noFill/>
                <a:tableStyleId>{B1372D40-0A2F-45FB-986C-F307831089E8}</a:tableStyleId>
              </a:tblPr>
              <a:tblGrid>
                <a:gridCol w="989225"/>
                <a:gridCol w="1236100"/>
                <a:gridCol w="1403175"/>
                <a:gridCol w="1264775"/>
                <a:gridCol w="1296425"/>
                <a:gridCol w="1296425"/>
                <a:gridCol w="1296425"/>
              </a:tblGrid>
              <a:tr h="381000">
                <a:tc>
                  <a:txBody>
                    <a:bodyPr/>
                    <a:lstStyle/>
                    <a:p>
                      <a:pPr indent="0" lvl="0" marL="0" rtl="0" algn="ctr">
                        <a:lnSpc>
                          <a:spcPct val="115000"/>
                        </a:lnSpc>
                        <a:spcBef>
                          <a:spcPts val="0"/>
                        </a:spcBef>
                        <a:spcAft>
                          <a:spcPts val="0"/>
                        </a:spcAft>
                        <a:buNone/>
                      </a:pPr>
                      <a:r>
                        <a:rPr b="1" lang="en"/>
                        <a:t>Metrics</a:t>
                      </a:r>
                      <a:endParaRPr b="1"/>
                    </a:p>
                  </a:txBody>
                  <a:tcPr marT="91425" marB="91425" marR="91425" marL="91425">
                    <a:solidFill>
                      <a:srgbClr val="9FC5E8"/>
                    </a:solidFill>
                  </a:tcPr>
                </a:tc>
                <a:tc>
                  <a:txBody>
                    <a:bodyPr/>
                    <a:lstStyle/>
                    <a:p>
                      <a:pPr indent="0" lvl="0" marL="0" rtl="0" algn="ctr">
                        <a:lnSpc>
                          <a:spcPct val="115000"/>
                        </a:lnSpc>
                        <a:spcBef>
                          <a:spcPts val="0"/>
                        </a:spcBef>
                        <a:spcAft>
                          <a:spcPts val="0"/>
                        </a:spcAft>
                        <a:buNone/>
                      </a:pPr>
                      <a:r>
                        <a:rPr b="1" lang="en"/>
                        <a:t>XGBoost trained with Undersampled data</a:t>
                      </a:r>
                      <a:endParaRPr b="1"/>
                    </a:p>
                  </a:txBody>
                  <a:tcPr marT="91425" marB="91425" marR="91425" marL="91425">
                    <a:solidFill>
                      <a:srgbClr val="9FC5E8"/>
                    </a:solidFill>
                  </a:tcPr>
                </a:tc>
                <a:tc>
                  <a:txBody>
                    <a:bodyPr/>
                    <a:lstStyle/>
                    <a:p>
                      <a:pPr indent="0" lvl="0" marL="0" rtl="0" algn="ctr">
                        <a:lnSpc>
                          <a:spcPct val="115000"/>
                        </a:lnSpc>
                        <a:spcBef>
                          <a:spcPts val="0"/>
                        </a:spcBef>
                        <a:spcAft>
                          <a:spcPts val="0"/>
                        </a:spcAft>
                        <a:buNone/>
                      </a:pPr>
                      <a:r>
                        <a:rPr b="1" lang="en"/>
                        <a:t>XGBoost trained with Original data</a:t>
                      </a:r>
                      <a:endParaRPr b="1"/>
                    </a:p>
                  </a:txBody>
                  <a:tcPr marT="91425" marB="91425" marR="91425" marL="91425">
                    <a:solidFill>
                      <a:srgbClr val="9FC5E8"/>
                    </a:solidFill>
                  </a:tcPr>
                </a:tc>
                <a:tc>
                  <a:txBody>
                    <a:bodyPr/>
                    <a:lstStyle/>
                    <a:p>
                      <a:pPr indent="0" lvl="0" marL="0" rtl="0" algn="ctr">
                        <a:lnSpc>
                          <a:spcPct val="115000"/>
                        </a:lnSpc>
                        <a:spcBef>
                          <a:spcPts val="0"/>
                        </a:spcBef>
                        <a:spcAft>
                          <a:spcPts val="0"/>
                        </a:spcAft>
                        <a:buNone/>
                      </a:pPr>
                      <a:r>
                        <a:rPr b="1" lang="en"/>
                        <a:t>Gradient boosting trained with Undersampled data</a:t>
                      </a:r>
                      <a:endParaRPr b="1"/>
                    </a:p>
                  </a:txBody>
                  <a:tcPr marT="91425" marB="91425" marR="91425" marL="91425">
                    <a:solidFill>
                      <a:srgbClr val="9FC5E8"/>
                    </a:solidFill>
                  </a:tcPr>
                </a:tc>
                <a:tc>
                  <a:txBody>
                    <a:bodyPr/>
                    <a:lstStyle/>
                    <a:p>
                      <a:pPr indent="0" lvl="0" marL="0" rtl="0" algn="ctr">
                        <a:lnSpc>
                          <a:spcPct val="115000"/>
                        </a:lnSpc>
                        <a:spcBef>
                          <a:spcPts val="0"/>
                        </a:spcBef>
                        <a:spcAft>
                          <a:spcPts val="0"/>
                        </a:spcAft>
                        <a:buNone/>
                      </a:pPr>
                      <a:r>
                        <a:rPr b="1" lang="en"/>
                        <a:t>Gradient boosting trained with Original data</a:t>
                      </a:r>
                      <a:endParaRPr b="1"/>
                    </a:p>
                  </a:txBody>
                  <a:tcPr marT="91425" marB="91425" marR="91425" marL="91425">
                    <a:solidFill>
                      <a:srgbClr val="9FC5E8"/>
                    </a:solidFill>
                  </a:tcPr>
                </a:tc>
                <a:tc>
                  <a:txBody>
                    <a:bodyPr/>
                    <a:lstStyle/>
                    <a:p>
                      <a:pPr indent="0" lvl="0" marL="0" rtl="0" algn="ctr">
                        <a:lnSpc>
                          <a:spcPct val="115000"/>
                        </a:lnSpc>
                        <a:spcBef>
                          <a:spcPts val="0"/>
                        </a:spcBef>
                        <a:spcAft>
                          <a:spcPts val="0"/>
                        </a:spcAft>
                        <a:buNone/>
                      </a:pPr>
                      <a:r>
                        <a:rPr b="1" lang="en"/>
                        <a:t>AdaBoost trained with Undersampled data</a:t>
                      </a:r>
                      <a:endParaRPr b="1"/>
                    </a:p>
                  </a:txBody>
                  <a:tcPr marT="91425" marB="91425" marR="91425" marL="91425">
                    <a:solidFill>
                      <a:srgbClr val="9FC5E8"/>
                    </a:solidFill>
                  </a:tcPr>
                </a:tc>
                <a:tc>
                  <a:txBody>
                    <a:bodyPr/>
                    <a:lstStyle/>
                    <a:p>
                      <a:pPr indent="0" lvl="0" marL="0" rtl="0" algn="ctr">
                        <a:lnSpc>
                          <a:spcPct val="115000"/>
                        </a:lnSpc>
                        <a:spcBef>
                          <a:spcPts val="0"/>
                        </a:spcBef>
                        <a:spcAft>
                          <a:spcPts val="0"/>
                        </a:spcAft>
                        <a:buNone/>
                      </a:pPr>
                      <a:r>
                        <a:rPr b="1" lang="en"/>
                        <a:t>AdaBoost trained with Original data</a:t>
                      </a:r>
                      <a:endParaRPr b="1"/>
                    </a:p>
                  </a:txBody>
                  <a:tcPr marT="91425" marB="91425" marR="91425" marL="91425">
                    <a:solidFill>
                      <a:srgbClr val="9FC5E8"/>
                    </a:solidFill>
                  </a:tcPr>
                </a:tc>
              </a:tr>
              <a:tr h="381000">
                <a:tc>
                  <a:txBody>
                    <a:bodyPr/>
                    <a:lstStyle/>
                    <a:p>
                      <a:pPr indent="0" lvl="0" marL="0" rtl="0" algn="ctr">
                        <a:lnSpc>
                          <a:spcPct val="115000"/>
                        </a:lnSpc>
                        <a:spcBef>
                          <a:spcPts val="0"/>
                        </a:spcBef>
                        <a:spcAft>
                          <a:spcPts val="0"/>
                        </a:spcAft>
                        <a:buNone/>
                      </a:pPr>
                      <a:r>
                        <a:rPr b="1" lang="en"/>
                        <a:t>Accuracy</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0.818</a:t>
                      </a:r>
                      <a:endParaRPr b="1"/>
                    </a:p>
                  </a:txBody>
                  <a:tcPr marT="91425" marB="91425" marR="91425" marL="91425"/>
                </a:tc>
                <a:tc>
                  <a:txBody>
                    <a:bodyPr/>
                    <a:lstStyle/>
                    <a:p>
                      <a:pPr indent="0" lvl="0" marL="0" rtl="0" algn="ctr">
                        <a:spcBef>
                          <a:spcPts val="0"/>
                        </a:spcBef>
                        <a:spcAft>
                          <a:spcPts val="0"/>
                        </a:spcAft>
                        <a:buNone/>
                      </a:pPr>
                      <a:r>
                        <a:rPr b="1" lang="en"/>
                        <a:t>0.930</a:t>
                      </a:r>
                      <a:endParaRPr b="1"/>
                    </a:p>
                  </a:txBody>
                  <a:tcPr marT="91425" marB="91425" marR="91425" marL="91425"/>
                </a:tc>
                <a:tc>
                  <a:txBody>
                    <a:bodyPr/>
                    <a:lstStyle/>
                    <a:p>
                      <a:pPr indent="0" lvl="0" marL="0" rtl="0" algn="ctr">
                        <a:spcBef>
                          <a:spcPts val="0"/>
                        </a:spcBef>
                        <a:spcAft>
                          <a:spcPts val="0"/>
                        </a:spcAft>
                        <a:buNone/>
                      </a:pPr>
                      <a:r>
                        <a:rPr b="1" lang="en"/>
                        <a:t>0.947</a:t>
                      </a:r>
                      <a:endParaRPr b="1"/>
                    </a:p>
                  </a:txBody>
                  <a:tcPr marT="91425" marB="91425" marR="91425" marL="91425"/>
                </a:tc>
                <a:tc>
                  <a:txBody>
                    <a:bodyPr/>
                    <a:lstStyle/>
                    <a:p>
                      <a:pPr indent="0" lvl="0" marL="0" rtl="0" algn="ctr">
                        <a:spcBef>
                          <a:spcPts val="0"/>
                        </a:spcBef>
                        <a:spcAft>
                          <a:spcPts val="0"/>
                        </a:spcAft>
                        <a:buNone/>
                      </a:pPr>
                      <a:r>
                        <a:rPr b="1" lang="en"/>
                        <a:t>0.947</a:t>
                      </a:r>
                      <a:endParaRPr b="1"/>
                    </a:p>
                  </a:txBody>
                  <a:tcPr marT="91425" marB="91425" marR="91425" marL="91425"/>
                </a:tc>
                <a:tc>
                  <a:txBody>
                    <a:bodyPr/>
                    <a:lstStyle/>
                    <a:p>
                      <a:pPr indent="0" lvl="0" marL="0" rtl="0" algn="ctr">
                        <a:spcBef>
                          <a:spcPts val="0"/>
                        </a:spcBef>
                        <a:spcAft>
                          <a:spcPts val="0"/>
                        </a:spcAft>
                        <a:buNone/>
                      </a:pPr>
                      <a:r>
                        <a:rPr b="1" lang="en"/>
                        <a:t>0.935</a:t>
                      </a:r>
                      <a:endParaRPr b="1"/>
                    </a:p>
                  </a:txBody>
                  <a:tcPr marT="91425" marB="91425" marR="91425" marL="91425"/>
                </a:tc>
                <a:tc>
                  <a:txBody>
                    <a:bodyPr/>
                    <a:lstStyle/>
                    <a:p>
                      <a:pPr indent="0" lvl="0" marL="0" rtl="0" algn="ctr">
                        <a:spcBef>
                          <a:spcPts val="0"/>
                        </a:spcBef>
                        <a:spcAft>
                          <a:spcPts val="0"/>
                        </a:spcAft>
                        <a:buNone/>
                      </a:pPr>
                      <a:r>
                        <a:rPr b="1" lang="en"/>
                        <a:t>0.969</a:t>
                      </a:r>
                      <a:endParaRPr b="1"/>
                    </a:p>
                  </a:txBody>
                  <a:tcPr marT="91425" marB="91425" marR="91425" marL="91425"/>
                </a:tc>
              </a:tr>
              <a:tr h="421050">
                <a:tc>
                  <a:txBody>
                    <a:bodyPr/>
                    <a:lstStyle/>
                    <a:p>
                      <a:pPr indent="0" lvl="0" marL="0" rtl="0" algn="ctr">
                        <a:lnSpc>
                          <a:spcPct val="115000"/>
                        </a:lnSpc>
                        <a:spcBef>
                          <a:spcPts val="0"/>
                        </a:spcBef>
                        <a:spcAft>
                          <a:spcPts val="0"/>
                        </a:spcAft>
                        <a:buNone/>
                      </a:pPr>
                      <a:r>
                        <a:rPr b="1" lang="en"/>
                        <a:t>Recall</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0.988</a:t>
                      </a:r>
                      <a:endParaRPr b="1"/>
                    </a:p>
                  </a:txBody>
                  <a:tcPr marT="91425" marB="91425" marR="91425" marL="91425"/>
                </a:tc>
                <a:tc>
                  <a:txBody>
                    <a:bodyPr/>
                    <a:lstStyle/>
                    <a:p>
                      <a:pPr indent="0" lvl="0" marL="0" rtl="0" algn="ctr">
                        <a:spcBef>
                          <a:spcPts val="0"/>
                        </a:spcBef>
                        <a:spcAft>
                          <a:spcPts val="0"/>
                        </a:spcAft>
                        <a:buNone/>
                      </a:pPr>
                      <a:r>
                        <a:rPr b="1" lang="en"/>
                        <a:t>0.960</a:t>
                      </a:r>
                      <a:endParaRPr b="1"/>
                    </a:p>
                  </a:txBody>
                  <a:tcPr marT="91425" marB="91425" marR="91425" marL="91425"/>
                </a:tc>
                <a:tc>
                  <a:txBody>
                    <a:bodyPr/>
                    <a:lstStyle/>
                    <a:p>
                      <a:pPr indent="0" lvl="0" marL="0" rtl="0" algn="ctr">
                        <a:spcBef>
                          <a:spcPts val="0"/>
                        </a:spcBef>
                        <a:spcAft>
                          <a:spcPts val="0"/>
                        </a:spcAft>
                        <a:buNone/>
                      </a:pPr>
                      <a:r>
                        <a:rPr b="1" lang="en"/>
                        <a:t>0.954</a:t>
                      </a:r>
                      <a:endParaRPr b="1"/>
                    </a:p>
                  </a:txBody>
                  <a:tcPr marT="91425" marB="91425" marR="91425" marL="91425"/>
                </a:tc>
                <a:tc>
                  <a:txBody>
                    <a:bodyPr/>
                    <a:lstStyle/>
                    <a:p>
                      <a:pPr indent="0" lvl="0" marL="0" rtl="0" algn="ctr">
                        <a:spcBef>
                          <a:spcPts val="0"/>
                        </a:spcBef>
                        <a:spcAft>
                          <a:spcPts val="0"/>
                        </a:spcAft>
                        <a:buNone/>
                      </a:pPr>
                      <a:r>
                        <a:rPr b="1" lang="en"/>
                        <a:t>0.954</a:t>
                      </a:r>
                      <a:endParaRPr b="1"/>
                    </a:p>
                  </a:txBody>
                  <a:tcPr marT="91425" marB="91425" marR="91425" marL="91425"/>
                </a:tc>
                <a:tc>
                  <a:txBody>
                    <a:bodyPr/>
                    <a:lstStyle/>
                    <a:p>
                      <a:pPr indent="0" lvl="0" marL="0" rtl="0" algn="ctr">
                        <a:spcBef>
                          <a:spcPts val="0"/>
                        </a:spcBef>
                        <a:spcAft>
                          <a:spcPts val="0"/>
                        </a:spcAft>
                        <a:buNone/>
                      </a:pPr>
                      <a:r>
                        <a:rPr b="1" lang="en"/>
                        <a:t>0.963</a:t>
                      </a:r>
                      <a:endParaRPr b="1"/>
                    </a:p>
                  </a:txBody>
                  <a:tcPr marT="91425" marB="91425" marR="91425" marL="91425"/>
                </a:tc>
                <a:tc>
                  <a:txBody>
                    <a:bodyPr/>
                    <a:lstStyle/>
                    <a:p>
                      <a:pPr indent="0" lvl="0" marL="0" rtl="0" algn="ctr">
                        <a:spcBef>
                          <a:spcPts val="0"/>
                        </a:spcBef>
                        <a:spcAft>
                          <a:spcPts val="0"/>
                        </a:spcAft>
                        <a:buNone/>
                      </a:pPr>
                      <a:r>
                        <a:rPr b="1" lang="en"/>
                        <a:t>0.871</a:t>
                      </a:r>
                      <a:endParaRPr b="1"/>
                    </a:p>
                  </a:txBody>
                  <a:tcPr marT="91425" marB="91425" marR="91425" marL="91425"/>
                </a:tc>
              </a:tr>
              <a:tr h="381000">
                <a:tc>
                  <a:txBody>
                    <a:bodyPr/>
                    <a:lstStyle/>
                    <a:p>
                      <a:pPr indent="0" lvl="0" marL="0" rtl="0" algn="ctr">
                        <a:lnSpc>
                          <a:spcPct val="115000"/>
                        </a:lnSpc>
                        <a:spcBef>
                          <a:spcPts val="0"/>
                        </a:spcBef>
                        <a:spcAft>
                          <a:spcPts val="0"/>
                        </a:spcAft>
                        <a:buNone/>
                      </a:pPr>
                      <a:r>
                        <a:rPr b="1" lang="en"/>
                        <a:t>Precision</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0.469</a:t>
                      </a:r>
                      <a:endParaRPr b="1"/>
                    </a:p>
                  </a:txBody>
                  <a:tcPr marT="91425" marB="91425" marR="91425" marL="91425"/>
                </a:tc>
                <a:tc>
                  <a:txBody>
                    <a:bodyPr/>
                    <a:lstStyle/>
                    <a:p>
                      <a:pPr indent="0" lvl="0" marL="0" rtl="0" algn="ctr">
                        <a:spcBef>
                          <a:spcPts val="0"/>
                        </a:spcBef>
                        <a:spcAft>
                          <a:spcPts val="0"/>
                        </a:spcAft>
                        <a:buNone/>
                      </a:pPr>
                      <a:r>
                        <a:rPr b="1" lang="en"/>
                        <a:t>0.710</a:t>
                      </a:r>
                      <a:endParaRPr b="1"/>
                    </a:p>
                  </a:txBody>
                  <a:tcPr marT="91425" marB="91425" marR="91425" marL="91425"/>
                </a:tc>
                <a:tc>
                  <a:txBody>
                    <a:bodyPr/>
                    <a:lstStyle/>
                    <a:p>
                      <a:pPr indent="0" lvl="0" marL="0" rtl="0" algn="ctr">
                        <a:spcBef>
                          <a:spcPts val="0"/>
                        </a:spcBef>
                        <a:spcAft>
                          <a:spcPts val="0"/>
                        </a:spcAft>
                        <a:buNone/>
                      </a:pPr>
                      <a:r>
                        <a:rPr b="1" lang="en"/>
                        <a:t>0.770</a:t>
                      </a:r>
                      <a:endParaRPr b="1"/>
                    </a:p>
                  </a:txBody>
                  <a:tcPr marT="91425" marB="91425" marR="91425" marL="91425"/>
                </a:tc>
                <a:tc>
                  <a:txBody>
                    <a:bodyPr/>
                    <a:lstStyle/>
                    <a:p>
                      <a:pPr indent="0" lvl="0" marL="0" rtl="0" algn="ctr">
                        <a:spcBef>
                          <a:spcPts val="0"/>
                        </a:spcBef>
                        <a:spcAft>
                          <a:spcPts val="0"/>
                        </a:spcAft>
                        <a:buNone/>
                      </a:pPr>
                      <a:r>
                        <a:rPr b="1" lang="en"/>
                        <a:t>0.770</a:t>
                      </a:r>
                      <a:endParaRPr b="1"/>
                    </a:p>
                  </a:txBody>
                  <a:tcPr marT="91425" marB="91425" marR="91425" marL="91425"/>
                </a:tc>
                <a:tc>
                  <a:txBody>
                    <a:bodyPr/>
                    <a:lstStyle/>
                    <a:p>
                      <a:pPr indent="0" lvl="0" marL="0" rtl="0" algn="ctr">
                        <a:spcBef>
                          <a:spcPts val="0"/>
                        </a:spcBef>
                        <a:spcAft>
                          <a:spcPts val="0"/>
                        </a:spcAft>
                        <a:buNone/>
                      </a:pPr>
                      <a:r>
                        <a:rPr b="1" lang="en"/>
                        <a:t>0.725</a:t>
                      </a:r>
                      <a:endParaRPr b="1"/>
                    </a:p>
                  </a:txBody>
                  <a:tcPr marT="91425" marB="91425" marR="91425" marL="91425"/>
                </a:tc>
                <a:tc>
                  <a:txBody>
                    <a:bodyPr/>
                    <a:lstStyle/>
                    <a:p>
                      <a:pPr indent="0" lvl="0" marL="0" rtl="0" algn="ctr">
                        <a:spcBef>
                          <a:spcPts val="0"/>
                        </a:spcBef>
                        <a:spcAft>
                          <a:spcPts val="0"/>
                        </a:spcAft>
                        <a:buNone/>
                      </a:pPr>
                      <a:r>
                        <a:rPr b="1" lang="en"/>
                        <a:t>0.934</a:t>
                      </a:r>
                      <a:endParaRPr b="1"/>
                    </a:p>
                  </a:txBody>
                  <a:tcPr marT="91425" marB="91425" marR="91425" marL="91425"/>
                </a:tc>
              </a:tr>
              <a:tr h="404475">
                <a:tc>
                  <a:txBody>
                    <a:bodyPr/>
                    <a:lstStyle/>
                    <a:p>
                      <a:pPr indent="0" lvl="0" marL="0" rtl="0" algn="ctr">
                        <a:lnSpc>
                          <a:spcPct val="115000"/>
                        </a:lnSpc>
                        <a:spcBef>
                          <a:spcPts val="0"/>
                        </a:spcBef>
                        <a:spcAft>
                          <a:spcPts val="0"/>
                        </a:spcAft>
                        <a:buNone/>
                      </a:pPr>
                      <a:r>
                        <a:rPr b="1" lang="en"/>
                        <a:t>F1</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0.636</a:t>
                      </a:r>
                      <a:endParaRPr b="1"/>
                    </a:p>
                  </a:txBody>
                  <a:tcPr marT="91425" marB="91425" marR="91425" marL="91425"/>
                </a:tc>
                <a:tc>
                  <a:txBody>
                    <a:bodyPr/>
                    <a:lstStyle/>
                    <a:p>
                      <a:pPr indent="0" lvl="0" marL="0" rtl="0" algn="ctr">
                        <a:spcBef>
                          <a:spcPts val="0"/>
                        </a:spcBef>
                        <a:spcAft>
                          <a:spcPts val="0"/>
                        </a:spcAft>
                        <a:buNone/>
                      </a:pPr>
                      <a:r>
                        <a:rPr b="1" lang="en"/>
                        <a:t>0.816</a:t>
                      </a:r>
                      <a:endParaRPr b="1"/>
                    </a:p>
                  </a:txBody>
                  <a:tcPr marT="91425" marB="91425" marR="91425" marL="91425"/>
                </a:tc>
                <a:tc>
                  <a:txBody>
                    <a:bodyPr/>
                    <a:lstStyle/>
                    <a:p>
                      <a:pPr indent="0" lvl="0" marL="0" rtl="0" algn="ctr">
                        <a:spcBef>
                          <a:spcPts val="0"/>
                        </a:spcBef>
                        <a:spcAft>
                          <a:spcPts val="0"/>
                        </a:spcAft>
                        <a:buNone/>
                      </a:pPr>
                      <a:r>
                        <a:rPr b="1" lang="en"/>
                        <a:t>0.852</a:t>
                      </a:r>
                      <a:endParaRPr b="1"/>
                    </a:p>
                  </a:txBody>
                  <a:tcPr marT="91425" marB="91425" marR="91425" marL="91425"/>
                </a:tc>
                <a:tc>
                  <a:txBody>
                    <a:bodyPr/>
                    <a:lstStyle/>
                    <a:p>
                      <a:pPr indent="0" lvl="0" marL="0" rtl="0" algn="ctr">
                        <a:spcBef>
                          <a:spcPts val="0"/>
                        </a:spcBef>
                        <a:spcAft>
                          <a:spcPts val="0"/>
                        </a:spcAft>
                        <a:buNone/>
                      </a:pPr>
                      <a:r>
                        <a:rPr b="1" lang="en"/>
                        <a:t>0.852</a:t>
                      </a:r>
                      <a:endParaRPr b="1"/>
                    </a:p>
                  </a:txBody>
                  <a:tcPr marT="91425" marB="91425" marR="91425" marL="91425"/>
                </a:tc>
                <a:tc>
                  <a:txBody>
                    <a:bodyPr/>
                    <a:lstStyle/>
                    <a:p>
                      <a:pPr indent="0" lvl="0" marL="0" rtl="0" algn="ctr">
                        <a:spcBef>
                          <a:spcPts val="0"/>
                        </a:spcBef>
                        <a:spcAft>
                          <a:spcPts val="0"/>
                        </a:spcAft>
                        <a:buNone/>
                      </a:pPr>
                      <a:r>
                        <a:rPr b="1" lang="en"/>
                        <a:t>0.827</a:t>
                      </a:r>
                      <a:endParaRPr b="1"/>
                    </a:p>
                  </a:txBody>
                  <a:tcPr marT="91425" marB="91425" marR="91425" marL="91425"/>
                </a:tc>
                <a:tc>
                  <a:txBody>
                    <a:bodyPr/>
                    <a:lstStyle/>
                    <a:p>
                      <a:pPr indent="0" lvl="0" marL="0" rtl="0" algn="ctr">
                        <a:spcBef>
                          <a:spcPts val="0"/>
                        </a:spcBef>
                        <a:spcAft>
                          <a:spcPts val="0"/>
                        </a:spcAft>
                        <a:buNone/>
                      </a:pPr>
                      <a:r>
                        <a:rPr b="1" lang="en"/>
                        <a:t>0.902</a:t>
                      </a:r>
                      <a:endParaRPr b="1"/>
                    </a:p>
                  </a:txBody>
                  <a:tcPr marT="91425" marB="91425" marR="91425" marL="91425"/>
                </a:tc>
              </a:tr>
            </a:tbl>
          </a:graphicData>
        </a:graphic>
      </p:graphicFrame>
      <p:sp>
        <p:nvSpPr>
          <p:cNvPr id="217" name="Google Shape;217;p7"/>
          <p:cNvSpPr txBox="1"/>
          <p:nvPr/>
        </p:nvSpPr>
        <p:spPr>
          <a:xfrm>
            <a:off x="87700" y="785775"/>
            <a:ext cx="8942400" cy="10788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XGBoost, </a:t>
            </a:r>
            <a:r>
              <a:rPr lang="en" sz="1500">
                <a:solidFill>
                  <a:schemeClr val="dk2"/>
                </a:solidFill>
                <a:latin typeface="Nunito"/>
                <a:ea typeface="Nunito"/>
                <a:cs typeface="Nunito"/>
                <a:sym typeface="Nunito"/>
              </a:rPr>
              <a:t>Gradient Boost</a:t>
            </a:r>
            <a:r>
              <a:rPr lang="en" sz="1500">
                <a:solidFill>
                  <a:schemeClr val="dk2"/>
                </a:solidFill>
                <a:latin typeface="Nunito"/>
                <a:ea typeface="Nunito"/>
                <a:cs typeface="Nunito"/>
                <a:sym typeface="Nunito"/>
              </a:rPr>
              <a:t> and AdaBoost are the 3 models that have performed well with undersampled data</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models were tuned with both original and undersampled data to avoid overfitting</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Gradient Boost with original data performed better overall compared to XGBoost and AdaBoost </a:t>
            </a:r>
            <a:endParaRPr sz="1500">
              <a:solidFill>
                <a:schemeClr val="dk2"/>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Feature Importances</a:t>
            </a:r>
            <a:endParaRPr>
              <a:solidFill>
                <a:srgbClr val="1974D2"/>
              </a:solidFill>
            </a:endParaRPr>
          </a:p>
        </p:txBody>
      </p:sp>
      <p:sp>
        <p:nvSpPr>
          <p:cNvPr id="223" name="Google Shape;223;p12"/>
          <p:cNvSpPr txBox="1"/>
          <p:nvPr>
            <p:ph idx="1" type="body"/>
          </p:nvPr>
        </p:nvSpPr>
        <p:spPr>
          <a:xfrm>
            <a:off x="202550" y="861975"/>
            <a:ext cx="8629800" cy="813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1000"/>
              </a:spcAft>
              <a:buClr>
                <a:srgbClr val="000000"/>
              </a:buClr>
              <a:buSzPts val="1400"/>
              <a:buChar char="●"/>
            </a:pPr>
            <a:r>
              <a:rPr lang="en" sz="1400">
                <a:solidFill>
                  <a:srgbClr val="000000"/>
                </a:solidFill>
              </a:rPr>
              <a:t>Total_Trans_Amt is the most important characteristic in predicting the customer who will attrite followed by Total Revolving Balance, Total Transaction Count, Total Relationship Count, and Total Count Change Q</a:t>
            </a:r>
            <a:r>
              <a:rPr lang="en" sz="1400">
                <a:solidFill>
                  <a:srgbClr val="000000"/>
                </a:solidFill>
              </a:rPr>
              <a:t>4 Q1</a:t>
            </a:r>
            <a:endParaRPr sz="1400">
              <a:solidFill>
                <a:srgbClr val="000000"/>
              </a:solidFill>
            </a:endParaRPr>
          </a:p>
        </p:txBody>
      </p:sp>
      <p:pic>
        <p:nvPicPr>
          <p:cNvPr id="224" name="Google Shape;224;p12"/>
          <p:cNvPicPr preferRelativeResize="0"/>
          <p:nvPr/>
        </p:nvPicPr>
        <p:blipFill>
          <a:blip r:embed="rId3">
            <a:alphaModFix/>
          </a:blip>
          <a:stretch>
            <a:fillRect/>
          </a:stretch>
        </p:blipFill>
        <p:spPr>
          <a:xfrm>
            <a:off x="2463850" y="1580475"/>
            <a:ext cx="4216307" cy="35630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8"/>
          <p:cNvSpPr txBox="1"/>
          <p:nvPr>
            <p:ph type="ctrTitle"/>
          </p:nvPr>
        </p:nvSpPr>
        <p:spPr>
          <a:xfrm>
            <a:off x="0" y="2820425"/>
            <a:ext cx="9144000" cy="581700"/>
          </a:xfrm>
          <a:prstGeom prst="rect">
            <a:avLst/>
          </a:prstGeom>
          <a:solidFill>
            <a:srgbClr val="0000FF"/>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Performance Summary (original data)</a:t>
            </a:r>
            <a:endParaRPr>
              <a:solidFill>
                <a:srgbClr val="1974D2"/>
              </a:solidFill>
            </a:endParaRPr>
          </a:p>
        </p:txBody>
      </p:sp>
      <p:sp>
        <p:nvSpPr>
          <p:cNvPr id="235" name="Google Shape;235;p9"/>
          <p:cNvSpPr txBox="1"/>
          <p:nvPr>
            <p:ph idx="1" type="body"/>
          </p:nvPr>
        </p:nvSpPr>
        <p:spPr>
          <a:xfrm>
            <a:off x="202550" y="861975"/>
            <a:ext cx="8629800" cy="669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XG Boo</a:t>
            </a:r>
            <a:r>
              <a:rPr lang="en" sz="1400">
                <a:solidFill>
                  <a:srgbClr val="000000"/>
                </a:solidFill>
              </a:rPr>
              <a:t>st has better performance than AdaBoost and XGBoost models, </a:t>
            </a:r>
            <a:endParaRPr sz="1400">
              <a:solidFill>
                <a:srgbClr val="000000"/>
              </a:solidFill>
            </a:endParaRPr>
          </a:p>
        </p:txBody>
      </p:sp>
      <p:graphicFrame>
        <p:nvGraphicFramePr>
          <p:cNvPr id="236" name="Google Shape;236;p9"/>
          <p:cNvGraphicFramePr/>
          <p:nvPr/>
        </p:nvGraphicFramePr>
        <p:xfrm>
          <a:off x="648300" y="1902625"/>
          <a:ext cx="3000000" cy="3000000"/>
        </p:xfrm>
        <a:graphic>
          <a:graphicData uri="http://schemas.openxmlformats.org/drawingml/2006/table">
            <a:tbl>
              <a:tblPr>
                <a:noFill/>
                <a:tableStyleId>{B1372D40-0A2F-45FB-986C-F307831089E8}</a:tableStyleId>
              </a:tblPr>
              <a:tblGrid>
                <a:gridCol w="2456350"/>
                <a:gridCol w="2456350"/>
                <a:gridCol w="2716400"/>
              </a:tblGrid>
              <a:tr h="381000">
                <a:tc>
                  <a:txBody>
                    <a:bodyPr/>
                    <a:lstStyle/>
                    <a:p>
                      <a:pPr indent="0" lvl="0" marL="0" rtl="0" algn="ctr">
                        <a:spcBef>
                          <a:spcPts val="0"/>
                        </a:spcBef>
                        <a:spcAft>
                          <a:spcPts val="0"/>
                        </a:spcAft>
                        <a:buNone/>
                      </a:pPr>
                      <a:r>
                        <a:rPr b="1" lang="en"/>
                        <a:t>Metrics</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Training Set </a:t>
                      </a:r>
                      <a:r>
                        <a:rPr b="1" lang="en"/>
                        <a:t>Recall Score</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Validation Set </a:t>
                      </a:r>
                      <a:r>
                        <a:rPr b="1" lang="en"/>
                        <a:t>Recall Score</a:t>
                      </a:r>
                      <a:endParaRPr b="1"/>
                    </a:p>
                  </a:txBody>
                  <a:tcPr marT="91425" marB="91425" marR="91425" marL="91425">
                    <a:solidFill>
                      <a:srgbClr val="9FC5E8"/>
                    </a:solidFill>
                  </a:tcPr>
                </a:tc>
              </a:tr>
              <a:tr h="381000">
                <a:tc>
                  <a:txBody>
                    <a:bodyPr/>
                    <a:lstStyle/>
                    <a:p>
                      <a:pPr indent="0" lvl="0" marL="0" rtl="0" algn="ctr">
                        <a:spcBef>
                          <a:spcPts val="0"/>
                        </a:spcBef>
                        <a:spcAft>
                          <a:spcPts val="0"/>
                        </a:spcAft>
                        <a:buNone/>
                      </a:pPr>
                      <a:r>
                        <a:rPr b="1" lang="en"/>
                        <a:t>Bagging</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 0.985655737704918</a:t>
                      </a:r>
                      <a:endParaRPr/>
                    </a:p>
                  </a:txBody>
                  <a:tcPr marT="91425" marB="91425" marR="91425" marL="91425"/>
                </a:tc>
                <a:tc>
                  <a:txBody>
                    <a:bodyPr/>
                    <a:lstStyle/>
                    <a:p>
                      <a:pPr indent="0" lvl="0" marL="0" rtl="0" algn="ctr">
                        <a:spcBef>
                          <a:spcPts val="0"/>
                        </a:spcBef>
                        <a:spcAft>
                          <a:spcPts val="0"/>
                        </a:spcAft>
                        <a:buNone/>
                      </a:pPr>
                      <a:r>
                        <a:rPr lang="en"/>
                        <a:t>0.</a:t>
                      </a:r>
                      <a:r>
                        <a:rPr lang="en"/>
                        <a:t>8128834355828221</a:t>
                      </a:r>
                      <a:endParaRPr/>
                    </a:p>
                  </a:txBody>
                  <a:tcPr marT="91425" marB="91425" marR="91425" marL="91425"/>
                </a:tc>
              </a:tr>
              <a:tr h="381000">
                <a:tc>
                  <a:txBody>
                    <a:bodyPr/>
                    <a:lstStyle/>
                    <a:p>
                      <a:pPr indent="0" lvl="0" marL="0" rtl="0" algn="ctr">
                        <a:spcBef>
                          <a:spcPts val="0"/>
                        </a:spcBef>
                        <a:spcAft>
                          <a:spcPts val="0"/>
                        </a:spcAft>
                        <a:buNone/>
                      </a:pPr>
                      <a:r>
                        <a:rPr b="1" lang="en"/>
                        <a:t>Random Forest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0.</a:t>
                      </a:r>
                      <a:r>
                        <a:rPr lang="en"/>
                        <a:t>7975460122699386</a:t>
                      </a:r>
                      <a:endParaRPr/>
                    </a:p>
                  </a:txBody>
                  <a:tcPr marT="91425" marB="91425" marR="91425" marL="91425"/>
                </a:tc>
              </a:tr>
              <a:tr h="381000">
                <a:tc>
                  <a:txBody>
                    <a:bodyPr/>
                    <a:lstStyle/>
                    <a:p>
                      <a:pPr indent="0" lvl="0" marL="0" rtl="0" algn="ctr">
                        <a:spcBef>
                          <a:spcPts val="0"/>
                        </a:spcBef>
                        <a:spcAft>
                          <a:spcPts val="0"/>
                        </a:spcAft>
                        <a:buNone/>
                      </a:pPr>
                      <a:r>
                        <a:rPr b="1" lang="en"/>
                        <a:t>Ada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a:t>
                      </a:r>
                      <a:r>
                        <a:rPr lang="en"/>
                        <a:t>826844262295082</a:t>
                      </a:r>
                      <a:endParaRPr/>
                    </a:p>
                  </a:txBody>
                  <a:tcPr marT="91425" marB="91425" marR="91425" marL="91425"/>
                </a:tc>
                <a:tc>
                  <a:txBody>
                    <a:bodyPr/>
                    <a:lstStyle/>
                    <a:p>
                      <a:pPr indent="0" lvl="0" marL="0" rtl="0" algn="ctr">
                        <a:spcBef>
                          <a:spcPts val="0"/>
                        </a:spcBef>
                        <a:spcAft>
                          <a:spcPts val="0"/>
                        </a:spcAft>
                        <a:buNone/>
                      </a:pPr>
                      <a:r>
                        <a:rPr lang="en"/>
                        <a:t>0.</a:t>
                      </a:r>
                      <a:r>
                        <a:rPr lang="en"/>
                        <a:t>852760736196319</a:t>
                      </a:r>
                      <a:endParaRPr/>
                    </a:p>
                  </a:txBody>
                  <a:tcPr marT="91425" marB="91425" marR="91425" marL="91425"/>
                </a:tc>
              </a:tr>
              <a:tr h="381000">
                <a:tc>
                  <a:txBody>
                    <a:bodyPr/>
                    <a:lstStyle/>
                    <a:p>
                      <a:pPr indent="0" lvl="0" marL="0" rtl="0" algn="ctr">
                        <a:spcBef>
                          <a:spcPts val="0"/>
                        </a:spcBef>
                        <a:spcAft>
                          <a:spcPts val="0"/>
                        </a:spcAft>
                        <a:buNone/>
                      </a:pPr>
                      <a:r>
                        <a:rPr b="1" lang="en"/>
                        <a:t>Gradient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0.875</a:t>
                      </a:r>
                      <a:endParaRPr/>
                    </a:p>
                  </a:txBody>
                  <a:tcPr marT="91425" marB="91425" marR="91425" marL="91425"/>
                </a:tc>
                <a:tc>
                  <a:txBody>
                    <a:bodyPr/>
                    <a:lstStyle/>
                    <a:p>
                      <a:pPr indent="0" lvl="0" marL="0" rtl="0" algn="ctr">
                        <a:spcBef>
                          <a:spcPts val="0"/>
                        </a:spcBef>
                        <a:spcAft>
                          <a:spcPts val="0"/>
                        </a:spcAft>
                        <a:buNone/>
                      </a:pPr>
                      <a:r>
                        <a:rPr lang="en"/>
                        <a:t>0.</a:t>
                      </a:r>
                      <a:r>
                        <a:rPr lang="en"/>
                        <a:t>8558282208588958</a:t>
                      </a:r>
                      <a:endParaRPr/>
                    </a:p>
                  </a:txBody>
                  <a:tcPr marT="91425" marB="91425" marR="91425" marL="91425"/>
                </a:tc>
              </a:tr>
              <a:tr h="381000">
                <a:tc>
                  <a:txBody>
                    <a:bodyPr/>
                    <a:lstStyle/>
                    <a:p>
                      <a:pPr indent="0" lvl="0" marL="0" rtl="0" algn="ctr">
                        <a:spcBef>
                          <a:spcPts val="0"/>
                        </a:spcBef>
                        <a:spcAft>
                          <a:spcPts val="0"/>
                        </a:spcAft>
                        <a:buNone/>
                      </a:pPr>
                      <a:r>
                        <a:rPr b="1" lang="en"/>
                        <a:t>XG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0.</a:t>
                      </a:r>
                      <a:r>
                        <a:rPr lang="en"/>
                        <a:t>8834355828220859</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Performance Summary (oversampled data)</a:t>
            </a:r>
            <a:endParaRPr>
              <a:solidFill>
                <a:srgbClr val="1974D2"/>
              </a:solidFill>
            </a:endParaRPr>
          </a:p>
        </p:txBody>
      </p:sp>
      <p:sp>
        <p:nvSpPr>
          <p:cNvPr id="242" name="Google Shape;242;p10"/>
          <p:cNvSpPr txBox="1"/>
          <p:nvPr>
            <p:ph idx="1" type="body"/>
          </p:nvPr>
        </p:nvSpPr>
        <p:spPr>
          <a:xfrm>
            <a:off x="202550" y="861975"/>
            <a:ext cx="8629800" cy="900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SMOTE technique was used to generate oversampled data</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Adaboost has the best performance on validation followed by XGB</a:t>
            </a:r>
            <a:endParaRPr i="1" sz="1300">
              <a:solidFill>
                <a:srgbClr val="000000"/>
              </a:solidFill>
            </a:endParaRPr>
          </a:p>
          <a:p>
            <a:pPr indent="0" lvl="0" marL="0" rtl="0" algn="l">
              <a:lnSpc>
                <a:spcPct val="115000"/>
              </a:lnSpc>
              <a:spcBef>
                <a:spcPts val="1000"/>
              </a:spcBef>
              <a:spcAft>
                <a:spcPts val="1000"/>
              </a:spcAft>
              <a:buSzPts val="1500"/>
              <a:buNone/>
            </a:pPr>
            <a:r>
              <a:t/>
            </a:r>
            <a:endParaRPr sz="1400">
              <a:solidFill>
                <a:srgbClr val="000000"/>
              </a:solidFill>
            </a:endParaRPr>
          </a:p>
        </p:txBody>
      </p:sp>
      <p:graphicFrame>
        <p:nvGraphicFramePr>
          <p:cNvPr id="243" name="Google Shape;243;p10"/>
          <p:cNvGraphicFramePr/>
          <p:nvPr/>
        </p:nvGraphicFramePr>
        <p:xfrm>
          <a:off x="746263" y="2023900"/>
          <a:ext cx="3000000" cy="3000000"/>
        </p:xfrm>
        <a:graphic>
          <a:graphicData uri="http://schemas.openxmlformats.org/drawingml/2006/table">
            <a:tbl>
              <a:tblPr>
                <a:noFill/>
                <a:tableStyleId>{B1372D40-0A2F-45FB-986C-F307831089E8}</a:tableStyleId>
              </a:tblPr>
              <a:tblGrid>
                <a:gridCol w="2514125"/>
                <a:gridCol w="2514125"/>
                <a:gridCol w="2514125"/>
              </a:tblGrid>
              <a:tr h="381000">
                <a:tc>
                  <a:txBody>
                    <a:bodyPr/>
                    <a:lstStyle/>
                    <a:p>
                      <a:pPr indent="0" lvl="0" marL="0" rtl="0" algn="ctr">
                        <a:spcBef>
                          <a:spcPts val="0"/>
                        </a:spcBef>
                        <a:spcAft>
                          <a:spcPts val="0"/>
                        </a:spcAft>
                        <a:buNone/>
                      </a:pPr>
                      <a:r>
                        <a:rPr b="1" lang="en"/>
                        <a:t>Metrics</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Training Set Recall Score</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Validation Set Recall Score</a:t>
                      </a:r>
                      <a:endParaRPr b="1"/>
                    </a:p>
                  </a:txBody>
                  <a:tcPr marT="91425" marB="91425" marR="91425" marL="91425">
                    <a:solidFill>
                      <a:srgbClr val="9FC5E8"/>
                    </a:solidFill>
                  </a:tcPr>
                </a:tc>
              </a:tr>
              <a:tr h="381000">
                <a:tc>
                  <a:txBody>
                    <a:bodyPr/>
                    <a:lstStyle/>
                    <a:p>
                      <a:pPr indent="0" lvl="0" marL="0" rtl="0" algn="ctr">
                        <a:spcBef>
                          <a:spcPts val="0"/>
                        </a:spcBef>
                        <a:spcAft>
                          <a:spcPts val="0"/>
                        </a:spcAft>
                        <a:buNone/>
                      </a:pPr>
                      <a:r>
                        <a:rPr b="1" lang="en"/>
                        <a:t>Bagging</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0.9974504804863699</a:t>
                      </a:r>
                      <a:endParaRPr/>
                    </a:p>
                  </a:txBody>
                  <a:tcPr marT="91425" marB="91425" marR="91425" marL="91425"/>
                </a:tc>
                <a:tc>
                  <a:txBody>
                    <a:bodyPr/>
                    <a:lstStyle/>
                    <a:p>
                      <a:pPr indent="0" lvl="0" marL="0" rtl="0" algn="ctr">
                        <a:spcBef>
                          <a:spcPts val="0"/>
                        </a:spcBef>
                        <a:spcAft>
                          <a:spcPts val="0"/>
                        </a:spcAft>
                        <a:buNone/>
                      </a:pPr>
                      <a:r>
                        <a:rPr lang="en"/>
                        <a:t> 0.8496932515337423</a:t>
                      </a:r>
                      <a:endParaRPr/>
                    </a:p>
                  </a:txBody>
                  <a:tcPr marT="91425" marB="91425" marR="91425" marL="91425"/>
                </a:tc>
              </a:tr>
              <a:tr h="381000">
                <a:tc>
                  <a:txBody>
                    <a:bodyPr/>
                    <a:lstStyle/>
                    <a:p>
                      <a:pPr indent="0" lvl="0" marL="0" rtl="0" algn="ctr">
                        <a:spcBef>
                          <a:spcPts val="0"/>
                        </a:spcBef>
                        <a:spcAft>
                          <a:spcPts val="0"/>
                        </a:spcAft>
                        <a:buNone/>
                      </a:pPr>
                      <a:r>
                        <a:rPr b="1" lang="en"/>
                        <a:t>Random Forest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0.8680981595092024</a:t>
                      </a:r>
                      <a:endParaRPr/>
                    </a:p>
                  </a:txBody>
                  <a:tcPr marT="91425" marB="91425" marR="91425" marL="91425"/>
                </a:tc>
              </a:tr>
              <a:tr h="381000">
                <a:tc>
                  <a:txBody>
                    <a:bodyPr/>
                    <a:lstStyle/>
                    <a:p>
                      <a:pPr indent="0" lvl="0" marL="0" rtl="0" algn="ctr">
                        <a:spcBef>
                          <a:spcPts val="0"/>
                        </a:spcBef>
                        <a:spcAft>
                          <a:spcPts val="0"/>
                        </a:spcAft>
                        <a:buNone/>
                      </a:pPr>
                      <a:r>
                        <a:rPr b="1" lang="en"/>
                        <a:t>Ada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0.9690135320651108</a:t>
                      </a:r>
                      <a:endParaRPr/>
                    </a:p>
                  </a:txBody>
                  <a:tcPr marT="91425" marB="91425" marR="91425" marL="91425"/>
                </a:tc>
                <a:tc>
                  <a:txBody>
                    <a:bodyPr/>
                    <a:lstStyle/>
                    <a:p>
                      <a:pPr indent="0" lvl="0" marL="0" rtl="0" algn="ctr">
                        <a:spcBef>
                          <a:spcPts val="0"/>
                        </a:spcBef>
                        <a:spcAft>
                          <a:spcPts val="0"/>
                        </a:spcAft>
                        <a:buNone/>
                      </a:pPr>
                      <a:r>
                        <a:rPr lang="en"/>
                        <a:t>0.901840490797546</a:t>
                      </a:r>
                      <a:endParaRPr/>
                    </a:p>
                  </a:txBody>
                  <a:tcPr marT="91425" marB="91425" marR="91425" marL="91425"/>
                </a:tc>
              </a:tr>
              <a:tr h="381000">
                <a:tc>
                  <a:txBody>
                    <a:bodyPr/>
                    <a:lstStyle/>
                    <a:p>
                      <a:pPr indent="0" lvl="0" marL="0" rtl="0" algn="ctr">
                        <a:spcBef>
                          <a:spcPts val="0"/>
                        </a:spcBef>
                        <a:spcAft>
                          <a:spcPts val="0"/>
                        </a:spcAft>
                        <a:buNone/>
                      </a:pPr>
                      <a:r>
                        <a:rPr b="1" lang="en"/>
                        <a:t>Gradient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0.980976662090606</a:t>
                      </a:r>
                      <a:endParaRPr/>
                    </a:p>
                  </a:txBody>
                  <a:tcPr marT="91425" marB="91425" marR="91425" marL="91425"/>
                </a:tc>
                <a:tc>
                  <a:txBody>
                    <a:bodyPr/>
                    <a:lstStyle/>
                    <a:p>
                      <a:pPr indent="0" lvl="0" marL="0" rtl="0" algn="ctr">
                        <a:spcBef>
                          <a:spcPts val="0"/>
                        </a:spcBef>
                        <a:spcAft>
                          <a:spcPts val="0"/>
                        </a:spcAft>
                        <a:buNone/>
                      </a:pPr>
                      <a:r>
                        <a:rPr lang="en"/>
                        <a:t>0.8926380368098159</a:t>
                      </a:r>
                      <a:endParaRPr/>
                    </a:p>
                  </a:txBody>
                  <a:tcPr marT="91425" marB="91425" marR="91425" marL="91425"/>
                </a:tc>
              </a:tr>
              <a:tr h="381000">
                <a:tc>
                  <a:txBody>
                    <a:bodyPr/>
                    <a:lstStyle/>
                    <a:p>
                      <a:pPr indent="0" lvl="0" marL="0" rtl="0" algn="ctr">
                        <a:spcBef>
                          <a:spcPts val="0"/>
                        </a:spcBef>
                        <a:spcAft>
                          <a:spcPts val="0"/>
                        </a:spcAft>
                        <a:buNone/>
                      </a:pPr>
                      <a:r>
                        <a:rPr b="1" lang="en"/>
                        <a:t>XG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0.8987730061349694</a:t>
                      </a:r>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1974D2"/>
                </a:solidFill>
              </a:rPr>
              <a:t>Model Performance Summary (undersampled data)</a:t>
            </a:r>
            <a:endParaRPr>
              <a:solidFill>
                <a:srgbClr val="1974D2"/>
              </a:solidFill>
            </a:endParaRPr>
          </a:p>
        </p:txBody>
      </p:sp>
      <p:sp>
        <p:nvSpPr>
          <p:cNvPr id="249" name="Google Shape;249;p11"/>
          <p:cNvSpPr txBox="1"/>
          <p:nvPr>
            <p:ph idx="1" type="body"/>
          </p:nvPr>
        </p:nvSpPr>
        <p:spPr>
          <a:xfrm>
            <a:off x="202550" y="861975"/>
            <a:ext cx="8629800" cy="727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AdaBoost model  has the best performance followed by XgBoost model</a:t>
            </a:r>
            <a:endParaRPr sz="1400">
              <a:solidFill>
                <a:srgbClr val="000000"/>
              </a:solidFill>
            </a:endParaRPr>
          </a:p>
          <a:p>
            <a:pPr indent="0" lvl="0" marL="0" rtl="0" algn="l">
              <a:spcBef>
                <a:spcPts val="1000"/>
              </a:spcBef>
              <a:spcAft>
                <a:spcPts val="0"/>
              </a:spcAft>
              <a:buSzPts val="1500"/>
              <a:buNone/>
            </a:pPr>
            <a:r>
              <a:t/>
            </a:r>
            <a:endParaRPr sz="1400">
              <a:solidFill>
                <a:srgbClr val="000000"/>
              </a:solidFill>
            </a:endParaRPr>
          </a:p>
          <a:p>
            <a:pPr indent="0" lvl="0" marL="0" rtl="0" algn="l">
              <a:lnSpc>
                <a:spcPct val="100000"/>
              </a:lnSpc>
              <a:spcBef>
                <a:spcPts val="0"/>
              </a:spcBef>
              <a:spcAft>
                <a:spcPts val="0"/>
              </a:spcAft>
              <a:buNone/>
            </a:pPr>
            <a:r>
              <a:t/>
            </a:r>
            <a:endParaRPr sz="1400">
              <a:solidFill>
                <a:srgbClr val="000000"/>
              </a:solidFill>
            </a:endParaRPr>
          </a:p>
          <a:p>
            <a:pPr indent="0" lvl="0" marL="0" rtl="0" algn="l">
              <a:spcBef>
                <a:spcPts val="1000"/>
              </a:spcBef>
              <a:spcAft>
                <a:spcPts val="0"/>
              </a:spcAft>
              <a:buSzPts val="1500"/>
              <a:buNone/>
            </a:pPr>
            <a:r>
              <a:t/>
            </a:r>
            <a:endParaRPr sz="1400">
              <a:solidFill>
                <a:srgbClr val="000000"/>
              </a:solidFill>
            </a:endParaRPr>
          </a:p>
          <a:p>
            <a:pPr indent="0" lvl="0" marL="0" rtl="0" algn="l">
              <a:lnSpc>
                <a:spcPct val="115000"/>
              </a:lnSpc>
              <a:spcBef>
                <a:spcPts val="1000"/>
              </a:spcBef>
              <a:spcAft>
                <a:spcPts val="1000"/>
              </a:spcAft>
              <a:buSzPts val="1500"/>
              <a:buNone/>
            </a:pPr>
            <a:r>
              <a:t/>
            </a:r>
            <a:endParaRPr sz="1400">
              <a:solidFill>
                <a:srgbClr val="000000"/>
              </a:solidFill>
            </a:endParaRPr>
          </a:p>
        </p:txBody>
      </p:sp>
      <p:graphicFrame>
        <p:nvGraphicFramePr>
          <p:cNvPr id="250" name="Google Shape;250;p11"/>
          <p:cNvGraphicFramePr/>
          <p:nvPr/>
        </p:nvGraphicFramePr>
        <p:xfrm>
          <a:off x="746263" y="2023900"/>
          <a:ext cx="3000000" cy="3000000"/>
        </p:xfrm>
        <a:graphic>
          <a:graphicData uri="http://schemas.openxmlformats.org/drawingml/2006/table">
            <a:tbl>
              <a:tblPr>
                <a:noFill/>
                <a:tableStyleId>{B1372D40-0A2F-45FB-986C-F307831089E8}</a:tableStyleId>
              </a:tblPr>
              <a:tblGrid>
                <a:gridCol w="2514125"/>
                <a:gridCol w="2514125"/>
                <a:gridCol w="2514125"/>
              </a:tblGrid>
              <a:tr h="381000">
                <a:tc>
                  <a:txBody>
                    <a:bodyPr/>
                    <a:lstStyle/>
                    <a:p>
                      <a:pPr indent="0" lvl="0" marL="0" rtl="0" algn="ctr">
                        <a:spcBef>
                          <a:spcPts val="0"/>
                        </a:spcBef>
                        <a:spcAft>
                          <a:spcPts val="0"/>
                        </a:spcAft>
                        <a:buNone/>
                      </a:pPr>
                      <a:r>
                        <a:rPr b="1" lang="en"/>
                        <a:t>Metrics</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Training Set Recall Score</a:t>
                      </a:r>
                      <a:endParaRPr b="1"/>
                    </a:p>
                  </a:txBody>
                  <a:tcPr marT="91425" marB="91425" marR="91425" marL="91425">
                    <a:solidFill>
                      <a:srgbClr val="9FC5E8"/>
                    </a:solidFill>
                  </a:tcPr>
                </a:tc>
                <a:tc>
                  <a:txBody>
                    <a:bodyPr/>
                    <a:lstStyle/>
                    <a:p>
                      <a:pPr indent="0" lvl="0" marL="0" rtl="0" algn="ctr">
                        <a:spcBef>
                          <a:spcPts val="0"/>
                        </a:spcBef>
                        <a:spcAft>
                          <a:spcPts val="0"/>
                        </a:spcAft>
                        <a:buNone/>
                      </a:pPr>
                      <a:r>
                        <a:rPr b="1" lang="en"/>
                        <a:t>Validation Set Recall Score</a:t>
                      </a:r>
                      <a:endParaRPr b="1"/>
                    </a:p>
                  </a:txBody>
                  <a:tcPr marT="91425" marB="91425" marR="91425" marL="91425">
                    <a:solidFill>
                      <a:srgbClr val="9FC5E8"/>
                    </a:solidFill>
                  </a:tcPr>
                </a:tc>
              </a:tr>
              <a:tr h="381000">
                <a:tc>
                  <a:txBody>
                    <a:bodyPr/>
                    <a:lstStyle/>
                    <a:p>
                      <a:pPr indent="0" lvl="0" marL="0" rtl="0" algn="ctr">
                        <a:spcBef>
                          <a:spcPts val="0"/>
                        </a:spcBef>
                        <a:spcAft>
                          <a:spcPts val="0"/>
                        </a:spcAft>
                        <a:buNone/>
                      </a:pPr>
                      <a:r>
                        <a:rPr b="1" lang="en"/>
                        <a:t>Bagging</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a:t>
                      </a:r>
                      <a:r>
                        <a:rPr lang="en"/>
                        <a:t>9907786885245902</a:t>
                      </a:r>
                      <a:endParaRPr/>
                    </a:p>
                  </a:txBody>
                  <a:tcPr marT="91425" marB="91425" marR="91425" marL="91425"/>
                </a:tc>
                <a:tc>
                  <a:txBody>
                    <a:bodyPr/>
                    <a:lstStyle/>
                    <a:p>
                      <a:pPr indent="0" lvl="0" marL="0" rtl="0" algn="ctr">
                        <a:spcBef>
                          <a:spcPts val="0"/>
                        </a:spcBef>
                        <a:spcAft>
                          <a:spcPts val="0"/>
                        </a:spcAft>
                        <a:buNone/>
                      </a:pPr>
                      <a:r>
                        <a:rPr lang="en"/>
                        <a:t> 0.</a:t>
                      </a:r>
                      <a:r>
                        <a:rPr lang="en"/>
                        <a:t>9294478527607362</a:t>
                      </a:r>
                      <a:endParaRPr/>
                    </a:p>
                  </a:txBody>
                  <a:tcPr marT="91425" marB="91425" marR="91425" marL="91425"/>
                </a:tc>
              </a:tr>
              <a:tr h="381000">
                <a:tc>
                  <a:txBody>
                    <a:bodyPr/>
                    <a:lstStyle/>
                    <a:p>
                      <a:pPr indent="0" lvl="0" marL="0" rtl="0" algn="ctr">
                        <a:spcBef>
                          <a:spcPts val="0"/>
                        </a:spcBef>
                        <a:spcAft>
                          <a:spcPts val="0"/>
                        </a:spcAft>
                        <a:buNone/>
                      </a:pPr>
                      <a:r>
                        <a:rPr b="1" lang="en"/>
                        <a:t>Random Forest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0.</a:t>
                      </a:r>
                      <a:r>
                        <a:rPr lang="en"/>
                        <a:t>9386503067484663</a:t>
                      </a:r>
                      <a:endParaRPr/>
                    </a:p>
                  </a:txBody>
                  <a:tcPr marT="91425" marB="91425" marR="91425" marL="91425"/>
                </a:tc>
              </a:tr>
              <a:tr h="381000">
                <a:tc>
                  <a:txBody>
                    <a:bodyPr/>
                    <a:lstStyle/>
                    <a:p>
                      <a:pPr indent="0" lvl="0" marL="0" rtl="0" algn="ctr">
                        <a:spcBef>
                          <a:spcPts val="0"/>
                        </a:spcBef>
                        <a:spcAft>
                          <a:spcPts val="0"/>
                        </a:spcAft>
                        <a:buNone/>
                      </a:pPr>
                      <a:r>
                        <a:rPr b="1" lang="en"/>
                        <a:t>Ada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a:t>
                      </a:r>
                      <a:r>
                        <a:rPr lang="en"/>
                        <a:t>9528688524590164</a:t>
                      </a:r>
                      <a:endParaRPr/>
                    </a:p>
                  </a:txBody>
                  <a:tcPr marT="91425" marB="91425" marR="91425" marL="91425"/>
                </a:tc>
                <a:tc>
                  <a:txBody>
                    <a:bodyPr/>
                    <a:lstStyle/>
                    <a:p>
                      <a:pPr indent="0" lvl="0" marL="0" rtl="0" algn="ctr">
                        <a:spcBef>
                          <a:spcPts val="0"/>
                        </a:spcBef>
                        <a:spcAft>
                          <a:spcPts val="0"/>
                        </a:spcAft>
                        <a:buNone/>
                      </a:pPr>
                      <a:r>
                        <a:rPr lang="en"/>
                        <a:t>0.</a:t>
                      </a:r>
                      <a:r>
                        <a:rPr lang="en"/>
                        <a:t>9601226993865031</a:t>
                      </a:r>
                      <a:endParaRPr/>
                    </a:p>
                  </a:txBody>
                  <a:tcPr marT="91425" marB="91425" marR="91425" marL="91425"/>
                </a:tc>
              </a:tr>
              <a:tr h="381000">
                <a:tc>
                  <a:txBody>
                    <a:bodyPr/>
                    <a:lstStyle/>
                    <a:p>
                      <a:pPr indent="0" lvl="0" marL="0" rtl="0" algn="ctr">
                        <a:spcBef>
                          <a:spcPts val="0"/>
                        </a:spcBef>
                        <a:spcAft>
                          <a:spcPts val="0"/>
                        </a:spcAft>
                        <a:buNone/>
                      </a:pPr>
                      <a:r>
                        <a:rPr b="1" lang="en"/>
                        <a:t>Gradient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0.</a:t>
                      </a:r>
                      <a:r>
                        <a:rPr lang="en"/>
                        <a:t>9805327868852459</a:t>
                      </a:r>
                      <a:endParaRPr/>
                    </a:p>
                  </a:txBody>
                  <a:tcPr marT="91425" marB="91425" marR="91425" marL="91425"/>
                </a:tc>
                <a:tc>
                  <a:txBody>
                    <a:bodyPr/>
                    <a:lstStyle/>
                    <a:p>
                      <a:pPr indent="0" lvl="0" marL="0" rtl="0" algn="ctr">
                        <a:spcBef>
                          <a:spcPts val="0"/>
                        </a:spcBef>
                        <a:spcAft>
                          <a:spcPts val="0"/>
                        </a:spcAft>
                        <a:buNone/>
                      </a:pPr>
                      <a:r>
                        <a:rPr lang="en"/>
                        <a:t>0.</a:t>
                      </a:r>
                      <a:r>
                        <a:rPr lang="en"/>
                        <a:t>9570552147239264</a:t>
                      </a:r>
                      <a:endParaRPr/>
                    </a:p>
                  </a:txBody>
                  <a:tcPr marT="91425" marB="91425" marR="91425" marL="91425"/>
                </a:tc>
              </a:tr>
              <a:tr h="381000">
                <a:tc>
                  <a:txBody>
                    <a:bodyPr/>
                    <a:lstStyle/>
                    <a:p>
                      <a:pPr indent="0" lvl="0" marL="0" rtl="0" algn="ctr">
                        <a:spcBef>
                          <a:spcPts val="0"/>
                        </a:spcBef>
                        <a:spcAft>
                          <a:spcPts val="0"/>
                        </a:spcAft>
                        <a:buNone/>
                      </a:pPr>
                      <a:r>
                        <a:rPr b="1" lang="en"/>
                        <a:t>XG Boost</a:t>
                      </a:r>
                      <a:endParaRPr b="1"/>
                    </a:p>
                  </a:txBody>
                  <a:tcPr marT="91425" marB="91425" marR="91425" marL="91425">
                    <a:solidFill>
                      <a:srgbClr val="9FC5E8"/>
                    </a:solidFill>
                  </a:tcPr>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0.</a:t>
                      </a:r>
                      <a:r>
                        <a:rPr lang="en"/>
                        <a:t>9570552147239264</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258" name="Google Shape;258;p13"/>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